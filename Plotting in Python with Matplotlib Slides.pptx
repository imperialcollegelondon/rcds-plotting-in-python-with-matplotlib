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0"/>
  </p:notesMasterIdLst>
  <p:sldIdLst>
    <p:sldId id="324" r:id="rId2"/>
    <p:sldId id="334" r:id="rId3"/>
    <p:sldId id="361" r:id="rId4"/>
    <p:sldId id="408" r:id="rId5"/>
    <p:sldId id="407" r:id="rId6"/>
    <p:sldId id="359" r:id="rId7"/>
    <p:sldId id="276" r:id="rId8"/>
    <p:sldId id="279" r:id="rId9"/>
  </p:sldIdLst>
  <p:sldSz cx="12192000" cy="6858000"/>
  <p:notesSz cx="6858000" cy="9144000"/>
  <p:embeddedFontLst>
    <p:embeddedFont>
      <p:font typeface="Imperial Sans Display" panose="020B0503020202020204" pitchFamily="34" charset="0"/>
      <p:regular r:id="rId11"/>
      <p:bold r:id="rId12"/>
    </p:embeddedFont>
  </p:embeddedFontLst>
  <p:defaultTextStyle>
    <a:defPPr>
      <a:defRPr lang="en-US"/>
    </a:defPPr>
    <a:lvl1pPr marL="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7DC"/>
    <a:srgbClr val="F8F3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56684F-ED0F-4C32-A0DA-6AFA7F6D1AF8}" v="1" dt="2025-03-25T09:57:02.916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52" autoAdjust="0"/>
    <p:restoredTop sz="71436" autoAdjust="0"/>
  </p:normalViewPr>
  <p:slideViewPr>
    <p:cSldViewPr snapToGrid="0" showGuides="1">
      <p:cViewPr varScale="1">
        <p:scale>
          <a:sx n="53" d="100"/>
          <a:sy n="53" d="100"/>
        </p:scale>
        <p:origin x="1324" y="3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139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11" d="100"/>
          <a:sy n="111" d="100"/>
        </p:scale>
        <p:origin x="1312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oling, Chris" userId="6dcf99c9-2ba5-410a-8445-0893a3d1421f" providerId="ADAL" clId="{7056684F-ED0F-4C32-A0DA-6AFA7F6D1AF8}"/>
    <pc:docChg chg="addSld delSld modSld">
      <pc:chgData name="Cooling, Chris" userId="6dcf99c9-2ba5-410a-8445-0893a3d1421f" providerId="ADAL" clId="{7056684F-ED0F-4C32-A0DA-6AFA7F6D1AF8}" dt="2025-03-25T09:57:02.900" v="1"/>
      <pc:docMkLst>
        <pc:docMk/>
      </pc:docMkLst>
      <pc:sldChg chg="add">
        <pc:chgData name="Cooling, Chris" userId="6dcf99c9-2ba5-410a-8445-0893a3d1421f" providerId="ADAL" clId="{7056684F-ED0F-4C32-A0DA-6AFA7F6D1AF8}" dt="2025-03-25T09:57:02.900" v="1"/>
        <pc:sldMkLst>
          <pc:docMk/>
          <pc:sldMk cId="1031427888" sldId="276"/>
        </pc:sldMkLst>
      </pc:sldChg>
      <pc:sldChg chg="del">
        <pc:chgData name="Cooling, Chris" userId="6dcf99c9-2ba5-410a-8445-0893a3d1421f" providerId="ADAL" clId="{7056684F-ED0F-4C32-A0DA-6AFA7F6D1AF8}" dt="2025-03-25T09:56:46.495" v="0" actId="47"/>
        <pc:sldMkLst>
          <pc:docMk/>
          <pc:sldMk cId="3543295302" sldId="406"/>
        </pc:sldMkLst>
      </pc:sldChg>
    </pc:docChg>
  </pc:docChgLst>
  <pc:docChgLst>
    <pc:chgData name="Cooling, Chris" userId="6dcf99c9-2ba5-410a-8445-0893a3d1421f" providerId="ADAL" clId="{739BE2D0-369D-4BD5-8BA6-94C4381AF508}"/>
    <pc:docChg chg="custSel addSld delSld modSld">
      <pc:chgData name="Cooling, Chris" userId="6dcf99c9-2ba5-410a-8445-0893a3d1421f" providerId="ADAL" clId="{739BE2D0-369D-4BD5-8BA6-94C4381AF508}" dt="2025-02-17T10:56:17.387" v="599" actId="20577"/>
      <pc:docMkLst>
        <pc:docMk/>
      </pc:docMkLst>
      <pc:sldChg chg="modSp del mod">
        <pc:chgData name="Cooling, Chris" userId="6dcf99c9-2ba5-410a-8445-0893a3d1421f" providerId="ADAL" clId="{739BE2D0-369D-4BD5-8BA6-94C4381AF508}" dt="2025-02-17T10:25:52.806" v="134" actId="47"/>
        <pc:sldMkLst>
          <pc:docMk/>
          <pc:sldMk cId="4254443235" sldId="322"/>
        </pc:sldMkLst>
      </pc:sldChg>
      <pc:sldChg chg="modSp add mod">
        <pc:chgData name="Cooling, Chris" userId="6dcf99c9-2ba5-410a-8445-0893a3d1421f" providerId="ADAL" clId="{739BE2D0-369D-4BD5-8BA6-94C4381AF508}" dt="2025-02-17T10:25:48.380" v="133" actId="20577"/>
        <pc:sldMkLst>
          <pc:docMk/>
          <pc:sldMk cId="474143756" sldId="324"/>
        </pc:sldMkLst>
        <pc:spChg chg="mod">
          <ac:chgData name="Cooling, Chris" userId="6dcf99c9-2ba5-410a-8445-0893a3d1421f" providerId="ADAL" clId="{739BE2D0-369D-4BD5-8BA6-94C4381AF508}" dt="2025-02-17T10:25:33.357" v="90" actId="20577"/>
          <ac:spMkLst>
            <pc:docMk/>
            <pc:sldMk cId="474143756" sldId="324"/>
            <ac:spMk id="2" creationId="{A6773C91-78F6-7FD7-669E-A1FEF5EAC302}"/>
          </ac:spMkLst>
        </pc:spChg>
        <pc:spChg chg="mod">
          <ac:chgData name="Cooling, Chris" userId="6dcf99c9-2ba5-410a-8445-0893a3d1421f" providerId="ADAL" clId="{739BE2D0-369D-4BD5-8BA6-94C4381AF508}" dt="2025-02-17T10:25:48.380" v="133" actId="20577"/>
          <ac:spMkLst>
            <pc:docMk/>
            <pc:sldMk cId="474143756" sldId="324"/>
            <ac:spMk id="3" creationId="{C1E4D7A8-3CEC-9DE0-CCD4-3A1A94F609C4}"/>
          </ac:spMkLst>
        </pc:spChg>
      </pc:sldChg>
      <pc:sldChg chg="modSp mod">
        <pc:chgData name="Cooling, Chris" userId="6dcf99c9-2ba5-410a-8445-0893a3d1421f" providerId="ADAL" clId="{739BE2D0-369D-4BD5-8BA6-94C4381AF508}" dt="2025-02-17T10:26:50.293" v="137" actId="20577"/>
        <pc:sldMkLst>
          <pc:docMk/>
          <pc:sldMk cId="16407505" sldId="361"/>
        </pc:sldMkLst>
        <pc:spChg chg="mod">
          <ac:chgData name="Cooling, Chris" userId="6dcf99c9-2ba5-410a-8445-0893a3d1421f" providerId="ADAL" clId="{739BE2D0-369D-4BD5-8BA6-94C4381AF508}" dt="2025-02-17T10:26:50.293" v="137" actId="20577"/>
          <ac:spMkLst>
            <pc:docMk/>
            <pc:sldMk cId="16407505" sldId="361"/>
            <ac:spMk id="3" creationId="{3059243C-26C4-B42B-1D89-75DB3A5CA945}"/>
          </ac:spMkLst>
        </pc:spChg>
      </pc:sldChg>
      <pc:sldChg chg="modSp add mod">
        <pc:chgData name="Cooling, Chris" userId="6dcf99c9-2ba5-410a-8445-0893a3d1421f" providerId="ADAL" clId="{739BE2D0-369D-4BD5-8BA6-94C4381AF508}" dt="2025-02-17T10:56:17.387" v="599" actId="20577"/>
        <pc:sldMkLst>
          <pc:docMk/>
          <pc:sldMk cId="4288594215" sldId="407"/>
        </pc:sldMkLst>
        <pc:spChg chg="mod">
          <ac:chgData name="Cooling, Chris" userId="6dcf99c9-2ba5-410a-8445-0893a3d1421f" providerId="ADAL" clId="{739BE2D0-369D-4BD5-8BA6-94C4381AF508}" dt="2025-02-17T10:56:17.387" v="599" actId="20577"/>
          <ac:spMkLst>
            <pc:docMk/>
            <pc:sldMk cId="4288594215" sldId="407"/>
            <ac:spMk id="3" creationId="{AE72B19A-BAEF-7DAE-DDC1-54394DA8669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E0D2A8-8F95-47C2-ABE1-A779F5A43C98}" type="datetimeFigureOut">
              <a:rPr lang="en-US" smtClean="0"/>
              <a:t>3/25/2025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7663E2-27CE-4C79-91D3-7F5C4262D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559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0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36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3" algn="l" defTabSz="91435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30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373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Check Gotchas/gotchas.f90 for example of behaviour you might </a:t>
            </a:r>
            <a:r>
              <a:rPr lang="en-GB"/>
              <a:t>not expect.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8403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7663E2-27CE-4C79-91D3-7F5C4262D5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0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women looking at a computer&#10;&#10;Description automatically generated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33033340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59533762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90355710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96894547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F8E19E-7C51-2D2C-254E-F363C418DE1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2" name="Title 1">
            <a:extLst>
              <a:ext uri="{FF2B5EF4-FFF2-40B4-BE49-F238E27FC236}">
                <a16:creationId xmlns:a16="http://schemas.microsoft.com/office/drawing/2014/main" id="{802863CF-25C1-DECF-F640-C736ECDB95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2417400"/>
            <a:ext cx="5765729" cy="1847942"/>
          </a:xfrm>
        </p:spPr>
        <p:txBody>
          <a:bodyPr anchor="b"/>
          <a:lstStyle>
            <a:lvl1pPr algn="l">
              <a:lnSpc>
                <a:spcPct val="80000"/>
              </a:lnSpc>
              <a:defRPr sz="50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3" name="Subtitle 2">
            <a:extLst>
              <a:ext uri="{FF2B5EF4-FFF2-40B4-BE49-F238E27FC236}">
                <a16:creationId xmlns:a16="http://schemas.microsoft.com/office/drawing/2014/main" id="{623E9086-C2CE-8088-D447-C484543077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71" y="4448111"/>
            <a:ext cx="5765729" cy="1113560"/>
          </a:xfrm>
        </p:spPr>
        <p:txBody>
          <a:bodyPr/>
          <a:lstStyle>
            <a:lvl1pPr marL="0" indent="0" algn="l">
              <a:buNone/>
              <a:defRPr sz="2500">
                <a:solidFill>
                  <a:srgbClr val="98FB98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84648638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975BF-6B10-4E88-A37A-C2325E8EA74D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defRPr>
                <a:solidFill>
                  <a:srgbClr val="232333"/>
                </a:solidFill>
              </a:defRPr>
            </a:lvl1pPr>
            <a:lvl2pP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08481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21EB1E-B189-4841-87F6-C5C35B2AF1A0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00FF7F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00FF7F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00FF7F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00FF7F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00FF7F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122023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haki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327819"/>
            <a:ext cx="5163243" cy="3101181"/>
          </a:xfrm>
        </p:spPr>
        <p:txBody>
          <a:bodyPr/>
          <a:lstStyle>
            <a:lvl1pPr>
              <a:defRPr sz="6400">
                <a:solidFill>
                  <a:srgbClr val="232333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5AB27-8D95-44FC-AA44-826493E7D06D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025"/>
            <a:ext cx="5777508" cy="3101977"/>
          </a:xfrm>
        </p:spPr>
        <p:txBody>
          <a:bodyPr/>
          <a:lstStyle>
            <a:lvl1pPr>
              <a:buClr>
                <a:srgbClr val="232333"/>
              </a:buClr>
              <a:defRPr>
                <a:solidFill>
                  <a:srgbClr val="232333"/>
                </a:solidFill>
              </a:defRPr>
            </a:lvl1pPr>
            <a:lvl2pPr>
              <a:buClr>
                <a:srgbClr val="232333"/>
              </a:buClr>
              <a:defRPr>
                <a:solidFill>
                  <a:srgbClr val="232333"/>
                </a:solidFill>
              </a:defRPr>
            </a:lvl2pPr>
            <a:lvl3pPr>
              <a:buClr>
                <a:srgbClr val="232333"/>
              </a:buClr>
              <a:defRPr>
                <a:solidFill>
                  <a:srgbClr val="232333"/>
                </a:solidFill>
              </a:defRPr>
            </a:lvl3pPr>
            <a:lvl4pPr>
              <a:buClr>
                <a:srgbClr val="232333"/>
              </a:buClr>
              <a:defRPr>
                <a:solidFill>
                  <a:srgbClr val="232333"/>
                </a:solidFill>
              </a:defRPr>
            </a:lvl4pPr>
            <a:lvl5pPr>
              <a:buClr>
                <a:srgbClr val="232333"/>
              </a:buClr>
              <a:defRPr>
                <a:solidFill>
                  <a:srgbClr val="232333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832032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Blue">
    <p:bg>
      <p:bgPr>
        <a:solidFill>
          <a:srgbClr val="0064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19FE4-6876-B5B6-E975-473C9AD4B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4" y="238870"/>
            <a:ext cx="5163243" cy="3190130"/>
          </a:xfrm>
        </p:spPr>
        <p:txBody>
          <a:bodyPr/>
          <a:lstStyle>
            <a:lvl1pPr>
              <a:defRPr sz="6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9A3DB1-810F-A8E3-C248-4835CAA99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0E963B0-C23E-4775-B818-9308814A27F1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B777E5-A94F-F8C3-D5F7-C4C35810F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089025-7C4D-C600-55FE-4CBA1AECC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3EA03B-C9D6-61A6-148F-9BF74F07D9B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1" y="327819"/>
            <a:ext cx="5777508" cy="3101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C35426-417C-E41E-5A03-5974D3C79A0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bg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75161828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7A2D4-509E-4D1B-BF00-3BBC2642DBBD}" type="datetime1">
              <a:rPr lang="en-GB" smtClean="0"/>
              <a:t>25/03/2025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17466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18188-43FA-4D60-9911-3A9354CBB8F0}" type="datetime1">
              <a:rPr lang="en-GB" smtClean="0"/>
              <a:t>25/03/2025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1846384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0AC38-BED1-9031-E2E0-CB195EDFD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26F26-EA3D-40AC-124C-008BE90D7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800" y="1394619"/>
            <a:ext cx="11540763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C11D5-984D-8680-D542-25A06BDC5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C1D0C-4BA4-4ED8-8E9E-74B79B8B15AD}" type="datetime1">
              <a:rPr lang="en-GB" smtClean="0"/>
              <a:t>25/03/2025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529F-F811-2979-BFFA-08BB8BC2F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9BFE-A663-D9A7-8252-C85369469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2B454FF-7060-E11B-6122-C9D16BC0604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852610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C4125-ADB2-42DA-ABE1-4DDAB9F4BC14}" type="datetime1">
              <a:rPr lang="en-GB" smtClean="0"/>
              <a:t>25/03/2025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903585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FF7F"/>
              </a:buClr>
              <a:defRPr/>
            </a:lvl3pPr>
            <a:lvl4pPr>
              <a:buClr>
                <a:srgbClr val="00FF7F"/>
              </a:buClr>
              <a:defRPr/>
            </a:lvl4pPr>
            <a:lvl5pPr>
              <a:buClr>
                <a:srgbClr val="00FF7F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CF639-5BAD-4ECA-B213-95E662BF0AB8}" type="datetime1">
              <a:rPr lang="en-GB" smtClean="0"/>
              <a:t>25/03/2025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2019597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934A7-BB27-0705-778A-9BC1A80F5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232" y="252000"/>
            <a:ext cx="11541025" cy="378044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3D824-2B92-00E0-3B10-2E7351FAE0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6232" y="1394619"/>
            <a:ext cx="5583238" cy="4866481"/>
          </a:xfrm>
        </p:spPr>
        <p:txBody>
          <a:bodyPr/>
          <a:lstStyle>
            <a:lvl3pPr>
              <a:buClr>
                <a:srgbClr val="006400"/>
              </a:buClr>
              <a:defRPr/>
            </a:lvl3pPr>
            <a:lvl4pPr>
              <a:buClr>
                <a:srgbClr val="006400"/>
              </a:buClr>
              <a:defRPr/>
            </a:lvl4pPr>
            <a:lvl5pPr>
              <a:buClr>
                <a:srgbClr val="006400"/>
              </a:buClr>
              <a:defRPr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16325E-A8D8-4356-8054-A314C1AF0A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83325" y="1394619"/>
            <a:ext cx="5583238" cy="486648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109A4F-CF52-ABB2-91FD-CF9C01BF0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B4FB9-61F3-4706-A394-57353A4512E5}" type="datetime1">
              <a:rPr lang="en-GB" smtClean="0"/>
              <a:t>25/03/2025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5B9B47-9D04-96FB-8B95-D7BC38470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D9458-0376-0EC1-BA89-A49552E19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5619CB-8093-9292-D19B-3E145BB563F3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80747767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D0D2E2-81C4-4D6A-95B8-392D5302E143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884756086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66B08-35C5-43AE-9AA1-890C9E633C9D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663662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95793-2B16-4B31-9A7C-BA9277BD25E1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623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96397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66562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CBB1273F-0B9B-4FDD-4203-5D0C87B419DE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536248034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6E0BA-400D-4C27-9DDD-FF0DB010D912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37066738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FE078-0C53-421F-A43C-9782FD7307AA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FF7F"/>
              </a:buClr>
              <a:defRPr sz="1800"/>
            </a:lvl3pPr>
            <a:lvl4pPr rtl="0">
              <a:buClr>
                <a:srgbClr val="00FF7F"/>
              </a:buClr>
              <a:defRPr sz="1800"/>
            </a:lvl4pPr>
            <a:lvl5pPr rtl="0"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1609803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s and Caption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23E2-CB33-A043-EFAE-5E5920AB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D07086-8168-2FFB-8A6A-847C21CE6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4CE61-011F-49EA-A285-6F1DDE0A5DF4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BF319C-1022-A0DE-5680-6E6F7A33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01DCF-BF44-5758-3698-48171189D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7DDBB1C-FCE2-459F-CD23-42AF9E169B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493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rgbClr val="006400"/>
              </a:buClr>
              <a:defRPr sz="1800"/>
            </a:lvl3pPr>
            <a:lvl4pPr rtl="0">
              <a:buClr>
                <a:srgbClr val="006400"/>
              </a:buClr>
              <a:defRPr sz="1800"/>
            </a:lvl4pPr>
            <a:lvl5pPr rtl="0"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284B46C-0DDC-167C-514E-EB0FCC3E4BE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76876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C354167-3149-957E-9D9F-B30D04014172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235258" y="3429000"/>
            <a:ext cx="3600000" cy="2832100"/>
          </a:xfrm>
        </p:spPr>
        <p:txBody>
          <a:bodyPr/>
          <a:lstStyle>
            <a:lvl1pPr rtl="0">
              <a:defRPr sz="1800"/>
            </a:lvl1pPr>
            <a:lvl2pPr rtl="0">
              <a:defRPr sz="1800"/>
            </a:lvl2pPr>
            <a:lvl3pPr rtl="0">
              <a:buClr>
                <a:schemeClr val="accent6"/>
              </a:buClr>
              <a:defRPr sz="1800"/>
            </a:lvl3pPr>
            <a:lvl4pPr rtl="0">
              <a:buClr>
                <a:schemeClr val="accent6"/>
              </a:buClr>
              <a:defRPr sz="1800"/>
            </a:lvl4pPr>
            <a:lvl5pPr rtl="0"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047AD979-9E36-27D3-D861-472A37C9BD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18490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BA925AEF-9705-43FC-B311-1B9A5C87248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6876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10">
            <a:extLst>
              <a:ext uri="{FF2B5EF4-FFF2-40B4-BE49-F238E27FC236}">
                <a16:creationId xmlns:a16="http://schemas.microsoft.com/office/drawing/2014/main" id="{71EBAC93-1C14-C84A-FF75-AC90D6C8A890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235261" y="1394619"/>
            <a:ext cx="3600000" cy="183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6EB687B-5D2E-6018-5C19-6211E4ADBA8B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11540763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231540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8D73BE-E705-46B7-BC89-BC8D7BD278BC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34480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D7CDE-7B1E-4FBD-9A2F-C93AF1E00BB7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75397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819"/>
            <a:ext cx="9984000" cy="5933281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07A87-E6D1-4117-8DC6-92C053157D5F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8019243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Text Blue">
    <p:bg>
      <p:bgPr>
        <a:solidFill>
          <a:srgbClr val="98FB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F41CF-A3E3-C272-C94C-947AC89C8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492" y="327025"/>
            <a:ext cx="9984000" cy="5934075"/>
          </a:xfrm>
        </p:spPr>
        <p:txBody>
          <a:bodyPr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080FA7-D3DB-DCE0-62D3-E92CDF5E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C7C3-54CE-4D8F-9204-334660AD10F0}" type="datetime1">
              <a:rPr lang="en-GB" smtClean="0"/>
              <a:t>25/03/2025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FFF8CC-E316-E641-C9CE-DF3DAA8A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F5865-014C-FA86-09B0-6C05A0B66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A8D6E0-472D-9B14-F3A6-BC2F23E87040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467749574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A3C102-8BAA-4F00-A81B-2DD04A5C8C39}" type="datetime1">
              <a:rPr lang="en-GB" smtClean="0"/>
              <a:t>25/03/2025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188077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2EED6ED-B9A6-4C24-9796-047AA68D3B81}" type="datetime1">
              <a:rPr lang="en-GB" smtClean="0"/>
              <a:t>25/03/2025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 descr="A black and white image of two people&#10;&#10;Description automatically generated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995235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0B309BC-F231-47A4-B368-76EDD209C8C8}" type="datetime1">
              <a:rPr lang="en-GB" smtClean="0"/>
              <a:t>25/03/2025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17366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FB0E597-AB25-47D4-B585-F29B3A935439}" type="datetime1">
              <a:rPr lang="en-GB" smtClean="0"/>
              <a:t>25/03/2025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779282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8E58AD8-DBDA-4C25-9024-C000E46B0C3A}" type="datetime1">
              <a:rPr lang="en-GB" smtClean="0"/>
              <a:t>25/03/2025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542469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D3C405-49EB-4652-B989-B09465A57833}" type="datetime1">
              <a:rPr lang="en-GB" smtClean="0"/>
              <a:t>25/03/2025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15951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Section Header Blue">
    <p:bg>
      <p:bgPr>
        <a:solidFill>
          <a:srgbClr val="00F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FEE2EA-C029-0AE3-B18F-CB5D823CD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5DC1DE3-986A-4265-8DAC-82679DB192C9}" type="datetime1">
              <a:rPr lang="en-GB" smtClean="0"/>
              <a:t>25/03/2025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74AA3B-FC1A-1DAF-C282-4ED6FC740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8A0A1-4076-F926-D730-16EF8BBD7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3E70A2-A3C6-29D0-1DEB-4D8F9283B18B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chemeClr val="tx1"/>
                </a:solidFill>
                <a:latin typeface="+mj-lt"/>
              </a:rPr>
              <a:t>Imperial College London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E2710C7-980D-1529-A1C4-D0B91442977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32718" y="2505029"/>
            <a:ext cx="6700238" cy="2162664"/>
          </a:xfrm>
        </p:spPr>
        <p:txBody>
          <a:bodyPr anchor="t"/>
          <a:lstStyle>
            <a:lvl1pPr algn="l">
              <a:lnSpc>
                <a:spcPct val="80000"/>
              </a:lnSpc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01</a:t>
            </a:r>
            <a:br>
              <a:rPr lang="en-GB" dirty="0"/>
            </a:br>
            <a:r>
              <a:rPr lang="en-GB" dirty="0"/>
              <a:t>Click to edit title style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A059B7-F8C4-DDAC-8831-8DEB457052F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8830" y="2321073"/>
            <a:ext cx="1786722" cy="178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240264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14ABF5-1FE3-4E04-B71E-B7E78F6E63BF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>
            <a:lvl1pPr>
              <a:defRPr>
                <a:solidFill>
                  <a:schemeClr val="accent6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39635899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E0DFC-FDBA-495A-ACA3-A9B9713F363E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206395976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77909-9A00-4992-8645-106E920C148E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52399BF-03C9-B24E-A780-BE7CD263C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558367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4D02234B-F0AA-AEA6-E636-52276BDE0E86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325800" y="620196"/>
            <a:ext cx="5583670" cy="371567"/>
          </a:xfr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2600">
                <a:solidFill>
                  <a:schemeClr val="tx1"/>
                </a:solidFill>
                <a:latin typeface="+mn-lt"/>
                <a:ea typeface="Inter Medium" panose="02000503000000020004" pitchFamily="2" charset="0"/>
              </a:defRPr>
            </a:lvl1pPr>
            <a:lvl2pPr marL="342882" indent="0" algn="ctr">
              <a:buNone/>
              <a:defRPr sz="1500"/>
            </a:lvl2pPr>
            <a:lvl3pPr marL="685765" indent="0" algn="ctr">
              <a:buNone/>
              <a:defRPr sz="1350"/>
            </a:lvl3pPr>
            <a:lvl4pPr marL="1028647" indent="0" algn="ctr">
              <a:buNone/>
              <a:defRPr sz="1200"/>
            </a:lvl4pPr>
            <a:lvl5pPr marL="1371530" indent="0" algn="ctr">
              <a:buNone/>
              <a:defRPr sz="1200"/>
            </a:lvl5pPr>
            <a:lvl6pPr marL="1714412" indent="0" algn="ctr">
              <a:buNone/>
              <a:defRPr sz="1200"/>
            </a:lvl6pPr>
            <a:lvl7pPr marL="2057295" indent="0" algn="ctr">
              <a:buNone/>
              <a:defRPr sz="1200"/>
            </a:lvl7pPr>
            <a:lvl8pPr marL="2400177" indent="0" algn="ctr">
              <a:buNone/>
              <a:defRPr sz="1200"/>
            </a:lvl8pPr>
            <a:lvl9pPr marL="2743060" indent="0" algn="ctr">
              <a:buNone/>
              <a:defRPr sz="1200"/>
            </a:lvl9pPr>
          </a:lstStyle>
          <a:p>
            <a:r>
              <a:rPr lang="en-GB" dirty="0"/>
              <a:t>Click to edit Master subtitle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8D7AD65-3E40-A55B-332E-BB6300B58F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25800" y="1394619"/>
            <a:ext cx="558367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90AF79-7BDC-6C86-6328-5E1E4E4A08B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77332222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B2A30-436D-4FE7-BD5D-4583405D27F2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065361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0C1B7-BFB6-4332-8A23-51E326F6AB73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875051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9060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Four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527B30-7BAB-490F-93A4-B1B05D7E266E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122200" y="327819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820BEAE3-D117-6A35-4CA0-AD8A32FA8AD8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7588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A380118A-A6AE-E8BE-5470-901DF79D51D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22200" y="3336100"/>
            <a:ext cx="3744000" cy="2925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226118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70416F-D7DB-44F8-9216-512C69EC7EE9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928214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4966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0E946-BCAF-4D68-ADE7-B8C07AC630B0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1999"/>
            <a:ext cx="3600000" cy="1010017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784684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Nine Images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995C2C-B1DC-4981-B1FC-B3C1972BA961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5800" y="1394619"/>
            <a:ext cx="3600000" cy="48664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920982-7B93-FD28-69A5-DDD95FFDB98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7588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F7D26A6-576F-735A-7429-EDF64293F6F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83804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0D226BA-B259-18A4-2510-39AFB57E0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3600000" cy="37804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3BF8A661-BC32-12AC-2F2D-D852D8FEEC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00200" y="327028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424D9351-99D0-9E5B-7115-9BACEF47F4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275880" y="2331064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7E1A1E6C-1250-255D-C128-8D998573C34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3804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707F7AF8-8070-56D1-C887-AB07C4710C1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400200" y="23310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DCCCE168-E156-6A02-DEEC-8F9AC2E8B01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7588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35D5F28-4EFB-7DB6-B73E-ECA9F671D622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3804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EBE80ECC-3276-2379-3DA7-E599F908B356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400200" y="4335100"/>
            <a:ext cx="2466000" cy="1926000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354154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A19F8-4691-4F20-93BF-107A0709A17B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1339553058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DE67-160D-4E30-937F-FE5EB3FEFBA4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64018343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onten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1D9BE-C00D-49E6-A4E9-7FF51EF093D1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6232" y="327819"/>
            <a:ext cx="558323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chemeClr val="accent6"/>
              </a:buClr>
              <a:defRPr sz="1800"/>
            </a:lvl3pPr>
            <a:lvl4pPr>
              <a:buClr>
                <a:schemeClr val="accent6"/>
              </a:buClr>
              <a:defRPr sz="1800"/>
            </a:lvl4pPr>
            <a:lvl5pPr>
              <a:buClr>
                <a:schemeClr val="accent6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62146EC-D096-3118-B564-94943B4AAEC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C8087009-76FB-8577-E442-4BA57C9BC40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290831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2974509294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4C64A-7437-4773-9658-E1FBB2A40BBD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78587760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73F17-E6E3-4AAF-AC1D-361A750BE5DC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FF7F"/>
              </a:buClr>
              <a:defRPr sz="1800"/>
            </a:lvl3pPr>
            <a:lvl4pPr>
              <a:buClr>
                <a:srgbClr val="00FF7F"/>
              </a:buClr>
              <a:defRPr sz="1800"/>
            </a:lvl4pPr>
            <a:lvl5pPr>
              <a:buClr>
                <a:srgbClr val="00FF7F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4240842164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ext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745BD5-0640-F2F6-890F-9A43357F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919A1-31FF-4B02-91EA-78731E954715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56E09A-8977-E57B-72B5-46534AF8C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44FC8-3717-4FAD-3024-9B9DB607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4E7D2B8-AE4F-2293-866D-13361A0A4A2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91761" y="327819"/>
            <a:ext cx="5574008" cy="5933281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buClr>
                <a:srgbClr val="006400"/>
              </a:buClr>
              <a:defRPr sz="1800"/>
            </a:lvl3pPr>
            <a:lvl4pPr>
              <a:buClr>
                <a:srgbClr val="006400"/>
              </a:buClr>
              <a:defRPr sz="1800"/>
            </a:lvl4pPr>
            <a:lvl5pPr>
              <a:buClr>
                <a:srgbClr val="006400"/>
              </a:buCl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E9D81BEA-7EB3-2BC8-30E0-0E8C91FA2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09D4F2-8CDC-D853-BB4E-3D1330CD34A2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26593" y="328613"/>
            <a:ext cx="5583670" cy="59324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an icon to add content</a:t>
            </a:r>
          </a:p>
        </p:txBody>
      </p:sp>
    </p:spTree>
    <p:extLst>
      <p:ext uri="{BB962C8B-B14F-4D97-AF65-F5344CB8AC3E}">
        <p14:creationId xmlns:p14="http://schemas.microsoft.com/office/powerpoint/2010/main" val="3782778189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E877CB-A3E7-4FF7-BDB7-BD4511F97DE6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306752833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Smok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695F00-7B8D-4487-8BEC-1106FCC20504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3115991555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 Khaki">
    <p:bg>
      <p:bgPr>
        <a:solidFill>
          <a:srgbClr val="98FB98">
            <a:alpha val="3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5956E3-49F4-0F54-ECD1-833CCCC18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C3789-276B-4AA8-B726-2D6546568C3C}" type="datetime1">
              <a:rPr lang="en-GB" smtClean="0"/>
              <a:t>25/03/2025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47AF09-A289-B391-8698-2A678677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D67CF9-6C56-BF00-C251-8AA14203B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6232" y="327819"/>
            <a:ext cx="11541025" cy="5933281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194B053A-20C0-FAD5-8DBE-F33035C94A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92057" y="6393657"/>
            <a:ext cx="2743200" cy="137319"/>
          </a:xfrm>
        </p:spPr>
        <p:txBody>
          <a:bodyPr/>
          <a:lstStyle>
            <a:lvl1pPr>
              <a:defRPr sz="850">
                <a:solidFill>
                  <a:schemeClr val="tx1"/>
                </a:solidFill>
              </a:defRPr>
            </a:lvl1pPr>
            <a:lvl2pPr>
              <a:defRPr sz="850">
                <a:solidFill>
                  <a:schemeClr val="accent1"/>
                </a:solidFill>
              </a:defRPr>
            </a:lvl2pPr>
            <a:lvl3pPr>
              <a:defRPr sz="850">
                <a:solidFill>
                  <a:schemeClr val="accent1"/>
                </a:solidFill>
              </a:defRPr>
            </a:lvl3pPr>
            <a:lvl4pPr>
              <a:defRPr sz="850">
                <a:solidFill>
                  <a:schemeClr val="accent1"/>
                </a:solidFill>
              </a:defRPr>
            </a:lvl4pPr>
            <a:lvl5pPr>
              <a:defRPr sz="850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Image caption goes here</a:t>
            </a:r>
          </a:p>
        </p:txBody>
      </p:sp>
    </p:spTree>
    <p:extLst>
      <p:ext uri="{BB962C8B-B14F-4D97-AF65-F5344CB8AC3E}">
        <p14:creationId xmlns:p14="http://schemas.microsoft.com/office/powerpoint/2010/main" val="2859685012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754C307-7FD2-615A-261A-9396C9B3C62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3"/>
            <a:ext cx="12193489" cy="6857999"/>
          </a:xfrm>
          <a:solidFill>
            <a:schemeClr val="bg1">
              <a:lumMod val="85000"/>
            </a:schemeClr>
          </a:solidFill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433404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green and black logo&#10;&#10;Description automatically generated">
            <a:extLst>
              <a:ext uri="{FF2B5EF4-FFF2-40B4-BE49-F238E27FC236}">
                <a16:creationId xmlns:a16="http://schemas.microsoft.com/office/drawing/2014/main" id="{98DBF964-2C27-A4D1-7AEE-2AE56263D6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270" y="327819"/>
            <a:ext cx="11536293" cy="2212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105972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1C1E3-6A7C-C21D-910D-C4B7DFFF52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271" y="3338719"/>
            <a:ext cx="9144000" cy="1828406"/>
          </a:xfrm>
        </p:spPr>
        <p:txBody>
          <a:bodyPr anchor="t"/>
          <a:lstStyle>
            <a:lvl1pPr algn="l">
              <a:defRPr sz="6400">
                <a:solidFill>
                  <a:srgbClr val="98FB98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29DDF72-DF0B-FA74-2E07-D490692B3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8188" y="327819"/>
            <a:ext cx="3964683" cy="109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092682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0F4440-CEDC-0D92-E0D5-5C1E3B59B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800" y="252000"/>
            <a:ext cx="11540763" cy="3780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CA021F-8558-9528-DA3D-486CCDBEB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6232" y="1394619"/>
            <a:ext cx="11541025" cy="486648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D1A8F0-AC4B-E4A0-94D0-99C4BFD97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641349" y="6393702"/>
            <a:ext cx="1233647" cy="137270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r">
              <a:defRPr sz="850">
                <a:solidFill>
                  <a:srgbClr val="232333"/>
                </a:solidFill>
              </a:defRPr>
            </a:lvl1pPr>
          </a:lstStyle>
          <a:p>
            <a:fld id="{EA445BD8-D8AF-4E93-BA66-C54D350368AD}" type="datetime1">
              <a:rPr lang="en-GB" smtClean="0"/>
              <a:t>25/03/2025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C0FC7A-298A-77A0-6596-56B0B3FD8C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65261" y="6393702"/>
            <a:ext cx="3423452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850">
                <a:solidFill>
                  <a:srgbClr val="232333"/>
                </a:solidFill>
              </a:defRPr>
            </a:lvl1pPr>
          </a:lstStyle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517C40-7EB7-0CFD-6F6C-54AE57DE17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936755" y="6393702"/>
            <a:ext cx="318491" cy="137272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ctr">
              <a:defRPr sz="850" b="1">
                <a:solidFill>
                  <a:srgbClr val="232333"/>
                </a:solidFill>
              </a:defRPr>
            </a:lvl1pPr>
          </a:lstStyle>
          <a:p>
            <a:fld id="{CBA53E11-492D-48B3-9F9B-09541CA2A39A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6CDD9-97E9-735B-8549-0F3AE3CCAC58}"/>
              </a:ext>
            </a:extLst>
          </p:cNvPr>
          <p:cNvSpPr txBox="1"/>
          <p:nvPr userDrawn="1"/>
        </p:nvSpPr>
        <p:spPr>
          <a:xfrm>
            <a:off x="326232" y="6393702"/>
            <a:ext cx="1417500" cy="137272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algn="l"/>
            <a:r>
              <a:rPr lang="en-US" sz="850" b="0" dirty="0">
                <a:solidFill>
                  <a:srgbClr val="232333"/>
                </a:solidFill>
                <a:latin typeface="+mj-lt"/>
              </a:rPr>
              <a:t>Imperial College London</a:t>
            </a:r>
          </a:p>
        </p:txBody>
      </p:sp>
    </p:spTree>
    <p:extLst>
      <p:ext uri="{BB962C8B-B14F-4D97-AF65-F5344CB8AC3E}">
        <p14:creationId xmlns:p14="http://schemas.microsoft.com/office/powerpoint/2010/main" val="1145082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715" r:id="rId2"/>
    <p:sldLayoutId id="2147483716" r:id="rId3"/>
    <p:sldLayoutId id="2147483717" r:id="rId4"/>
    <p:sldLayoutId id="2147483718" r:id="rId5"/>
    <p:sldLayoutId id="2147483658" r:id="rId6"/>
    <p:sldLayoutId id="2147483681" r:id="rId7"/>
    <p:sldLayoutId id="2147483682" r:id="rId8"/>
    <p:sldLayoutId id="2147483675" r:id="rId9"/>
    <p:sldLayoutId id="2147483650" r:id="rId10"/>
    <p:sldLayoutId id="2147483683" r:id="rId11"/>
    <p:sldLayoutId id="2147483684" r:id="rId12"/>
    <p:sldLayoutId id="2147483652" r:id="rId13"/>
    <p:sldLayoutId id="2147483685" r:id="rId14"/>
    <p:sldLayoutId id="2147483686" r:id="rId15"/>
    <p:sldLayoutId id="2147483659" r:id="rId16"/>
    <p:sldLayoutId id="2147483687" r:id="rId17"/>
    <p:sldLayoutId id="2147483688" r:id="rId18"/>
    <p:sldLayoutId id="2147483660" r:id="rId19"/>
    <p:sldLayoutId id="2147483689" r:id="rId20"/>
    <p:sldLayoutId id="2147483690" r:id="rId21"/>
    <p:sldLayoutId id="2147483677" r:id="rId22"/>
    <p:sldLayoutId id="2147483691" r:id="rId23"/>
    <p:sldLayoutId id="2147483692" r:id="rId24"/>
    <p:sldLayoutId id="2147483676" r:id="rId25"/>
    <p:sldLayoutId id="2147483721" r:id="rId26"/>
    <p:sldLayoutId id="2147483666" r:id="rId27"/>
    <p:sldLayoutId id="2147483719" r:id="rId28"/>
    <p:sldLayoutId id="2147483720" r:id="rId29"/>
    <p:sldLayoutId id="2147483722" r:id="rId30"/>
    <p:sldLayoutId id="2147483723" r:id="rId31"/>
    <p:sldLayoutId id="2147483724" r:id="rId32"/>
    <p:sldLayoutId id="2147483661" r:id="rId33"/>
    <p:sldLayoutId id="2147483695" r:id="rId34"/>
    <p:sldLayoutId id="2147483696" r:id="rId35"/>
    <p:sldLayoutId id="2147483669" r:id="rId36"/>
    <p:sldLayoutId id="2147483697" r:id="rId37"/>
    <p:sldLayoutId id="2147483698" r:id="rId38"/>
    <p:sldLayoutId id="2147483678" r:id="rId39"/>
    <p:sldLayoutId id="2147483699" r:id="rId40"/>
    <p:sldLayoutId id="2147483700" r:id="rId41"/>
    <p:sldLayoutId id="2147483662" r:id="rId42"/>
    <p:sldLayoutId id="2147483701" r:id="rId43"/>
    <p:sldLayoutId id="2147483702" r:id="rId44"/>
    <p:sldLayoutId id="2147483663" r:id="rId45"/>
    <p:sldLayoutId id="2147483703" r:id="rId46"/>
    <p:sldLayoutId id="2147483704" r:id="rId47"/>
    <p:sldLayoutId id="2147483664" r:id="rId48"/>
    <p:sldLayoutId id="2147483705" r:id="rId49"/>
    <p:sldLayoutId id="2147483706" r:id="rId50"/>
    <p:sldLayoutId id="2147483665" r:id="rId51"/>
    <p:sldLayoutId id="2147483670" r:id="rId52"/>
    <p:sldLayoutId id="2147483673" r:id="rId53"/>
  </p:sldLayoutIdLst>
  <p:transition>
    <p:fade/>
  </p:transition>
  <p:hf hdr="0"/>
  <p:txStyles>
    <p:titleStyle>
      <a:lvl1pPr algn="l" defTabSz="685765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006400"/>
          </a:solidFill>
          <a:latin typeface="+mj-lt"/>
          <a:ea typeface="+mj-ea"/>
          <a:cs typeface="+mj-cs"/>
        </a:defRPr>
      </a:lvl1pPr>
    </p:titleStyle>
    <p:bodyStyle>
      <a:lvl1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685765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j-lt"/>
          <a:ea typeface="+mn-ea"/>
          <a:cs typeface="+mn-cs"/>
        </a:defRPr>
      </a:lvl2pPr>
      <a:lvl3pPr marL="161991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323984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485975" indent="-161991" algn="l" defTabSz="685765" rtl="0" eaLnBrk="1" latinLnBrk="0" hangingPunct="1">
        <a:lnSpc>
          <a:spcPct val="105000"/>
        </a:lnSpc>
        <a:spcBef>
          <a:spcPts val="0"/>
        </a:spcBef>
        <a:buClr>
          <a:srgbClr val="00FF7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853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36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18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01" indent="-171441" algn="l" defTabSz="68576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8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76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4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3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12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95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77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060" algn="l" defTabSz="685765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206" userDrawn="1">
          <p15:clr>
            <a:srgbClr val="F26B43"/>
          </p15:clr>
        </p15:guide>
        <p15:guide id="4" pos="7475" userDrawn="1">
          <p15:clr>
            <a:srgbClr val="F26B43"/>
          </p15:clr>
        </p15:guide>
        <p15:guide id="5" orient="horz" pos="207" userDrawn="1">
          <p15:clr>
            <a:srgbClr val="F26B43"/>
          </p15:clr>
        </p15:guide>
        <p15:guide id="6" orient="horz" pos="4114" userDrawn="1">
          <p15:clr>
            <a:srgbClr val="F26B43"/>
          </p15:clr>
        </p15:guide>
        <p15:guide id="7" orient="horz" pos="3944" userDrawn="1">
          <p15:clr>
            <a:srgbClr val="F26B43"/>
          </p15:clr>
        </p15:guide>
        <p15:guide id="8" orient="horz" pos="879" userDrawn="1">
          <p15:clr>
            <a:srgbClr val="F26B43"/>
          </p15:clr>
        </p15:guide>
        <p15:guide id="9" pos="3723" userDrawn="1">
          <p15:clr>
            <a:srgbClr val="F26B43"/>
          </p15:clr>
        </p15:guide>
        <p15:guide id="10" pos="395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perialCollegeLondon/RCDS-plotting-in-python-with-matplotlib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github.com/ImperialCollegeLondon/RCDS-object-oriented-python/blob/master/README.md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imperialcollegelondon.github.io/ReCoDE-home/exemplars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Relationship Id="rId6" Type="http://schemas.openxmlformats.org/officeDocument/2006/relationships/hyperlink" Target="https://imperialcollegelondon.github.io/ReCoDE-SPH-solver-2D-NS/" TargetMode="External"/><Relationship Id="rId5" Type="http://schemas.openxmlformats.org/officeDocument/2006/relationships/hyperlink" Target="https://imperialcollegelondon.github.io/ReCoDe-Euler-Maruyama/" TargetMode="External"/><Relationship Id="rId4" Type="http://schemas.openxmlformats.org/officeDocument/2006/relationships/hyperlink" Target="https://imperialcollegelondon.github.io/ReCoDE-home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feedback-rcds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imperial.ac.uk/students/academic-support/graduate-school/community-development/pres/" TargetMode="External"/><Relationship Id="rId1" Type="http://schemas.openxmlformats.org/officeDocument/2006/relationships/slideLayout" Target="../slideLayouts/slideLayout5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73C91-78F6-7FD7-669E-A1FEF5EAC3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Plotting in Python with Matplotlib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E4D7A8-3CEC-9DE0-CCD4-3A1A94F609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Chris Cooling</a:t>
            </a:r>
          </a:p>
          <a:p>
            <a:r>
              <a:rPr lang="en-GB" dirty="0"/>
              <a:t>Senior Teaching Fellow</a:t>
            </a:r>
          </a:p>
          <a:p>
            <a:r>
              <a:rPr lang="en-US" dirty="0"/>
              <a:t>ECRI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414375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/>
              <a:t>Important Information on Marking your Attendance on Inkpath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7" y="1773239"/>
            <a:ext cx="11541125" cy="3608230"/>
          </a:xfrm>
        </p:spPr>
        <p:txBody>
          <a:bodyPr/>
          <a:lstStyle/>
          <a:p>
            <a:r>
              <a:rPr lang="en-GB" sz="3200" dirty="0"/>
              <a:t>I will show you a QR code at the end of the session allowing you to mark your attendance on Inkpath. Please do not mark your attendance until then.</a:t>
            </a:r>
            <a:br>
              <a:rPr lang="en-GB" sz="3200" dirty="0"/>
            </a:br>
            <a:b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200" dirty="0">
                <a:effectLst/>
                <a:ea typeface="Times New Roman" panose="02020603050405020304" pitchFamily="18" charset="0"/>
                <a:cs typeface="Calibri" panose="020F0502020204030204" pitchFamily="34" charset="0"/>
              </a:rPr>
              <a:t>If you are a Postgraduate Research student, this is required for receiving your ECRI professional development credit for this course.</a:t>
            </a:r>
            <a:endParaRPr lang="en-GB" sz="32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81B29A81-DA66-4397-B1B5-F97764FA7D32}" type="datetime1">
              <a:rPr lang="en-GB" smtClean="0"/>
              <a:t>25/03/2025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918697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Understand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how to use example codes to create high-quality figures for your publications and thesis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Create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and export a variety of plots using matplotlib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Represent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multiple data series efficiently on a single plot</a:t>
            </a:r>
          </a:p>
          <a:p>
            <a:pPr marL="571500" lvl="0" indent="-57150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Customise</a:t>
            </a:r>
            <a:r>
              <a:rPr lang="en-GB" sz="3600" dirty="0">
                <a:latin typeface="Arial" panose="020B0604020202020204" pitchFamily="34" charset="0"/>
                <a:cs typeface="Arial" panose="020B0604020202020204" pitchFamily="34" charset="0"/>
              </a:rPr>
              <a:t> the appearance of plots and generate subplots in </a:t>
            </a:r>
            <a:r>
              <a:rPr lang="en-GB" sz="3600">
                <a:latin typeface="Arial" panose="020B0604020202020204" pitchFamily="34" charset="0"/>
                <a:cs typeface="Arial" panose="020B0604020202020204" pitchFamily="34" charset="0"/>
              </a:rPr>
              <a:t>one figure</a:t>
            </a:r>
            <a:endParaRPr lang="en-GB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32E73D5C-B207-45D9-810C-3B257089DCE4}" type="datetime1">
              <a:rPr lang="en-GB" smtClean="0"/>
              <a:t>25/03/2025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0750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US" dirty="0"/>
              <a:t>Course Materials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59243C-26C4-B42B-1D89-75DB3A5CA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438" y="1394619"/>
            <a:ext cx="11541125" cy="4866481"/>
          </a:xfrm>
        </p:spPr>
        <p:txBody>
          <a:bodyPr/>
          <a:lstStyle/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course materials are stored in a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GitHub repository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Instructions for using the materials are found in the 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readme</a:t>
            </a:r>
            <a:endParaRPr lang="en-US" sz="36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Links to open the course notebooks in </a:t>
            </a:r>
            <a:r>
              <a:rPr lang="en-US" sz="3600" dirty="0" err="1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Colab</a:t>
            </a: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are at the bottom of the readme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The materials can also be downloaded and run locally</a:t>
            </a:r>
          </a:p>
          <a:p>
            <a:pPr marL="514350" lvl="0" indent="-514350">
              <a:lnSpc>
                <a:spcPct val="107000"/>
              </a:lnSpc>
              <a:buFont typeface="Arial" panose="020B0604020202020204" pitchFamily="34" charset="0"/>
              <a:buChar char="•"/>
            </a:pPr>
            <a:r>
              <a:rPr lang="en-US" sz="3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You can also star/fork the repository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6E0350A5-0E1C-4E70-B0B6-3373B5C9F5CF}" type="datetime1">
              <a:rPr lang="en-GB" smtClean="0"/>
              <a:t>25/03/2025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3423444" cy="137319"/>
          </a:xfrm>
        </p:spPr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31908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61499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D226D-AEEE-9CAD-EC6D-58B1E3EBB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251619"/>
            <a:ext cx="11541125" cy="378619"/>
          </a:xfrm>
        </p:spPr>
        <p:txBody>
          <a:bodyPr/>
          <a:lstStyle/>
          <a:p>
            <a:r>
              <a:rPr lang="en-GB" sz="2800" dirty="0" err="1"/>
              <a:t>ReCoDE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2808B-580A-CD49-CD2A-D7F1741348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641013" y="6393657"/>
            <a:ext cx="1234282" cy="137319"/>
          </a:xfrm>
        </p:spPr>
        <p:txBody>
          <a:bodyPr/>
          <a:lstStyle/>
          <a:p>
            <a:fld id="{4B4BC937-2805-4BE1-9C10-C67D8B6C9243}" type="datetime1">
              <a:rPr lang="en-GB" smtClean="0"/>
              <a:t>25/03/2025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F2B04-CF1B-39C4-E124-D0EE6DA13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5325" y="6393657"/>
            <a:ext cx="5313110" cy="137319"/>
          </a:xfrm>
        </p:spPr>
        <p:txBody>
          <a:bodyPr/>
          <a:lstStyle/>
          <a:p>
            <a:r>
              <a:rPr lang="en-GB" dirty="0"/>
              <a:t>Introduction to Fortran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CE7C2-9D41-F6F6-A942-18570AA93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6457" y="6393657"/>
            <a:ext cx="495218" cy="137319"/>
          </a:xfrm>
        </p:spPr>
        <p:txBody>
          <a:bodyPr/>
          <a:lstStyle/>
          <a:p>
            <a:fld id="{CBA53E11-492D-48B3-9F9B-09541CA2A39A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3" name="Content Placeholder 6">
            <a:extLst>
              <a:ext uri="{FF2B5EF4-FFF2-40B4-BE49-F238E27FC236}">
                <a16:creationId xmlns:a16="http://schemas.microsoft.com/office/drawing/2014/main" id="{AE72B19A-BAEF-7DAE-DDC1-54394DA866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409363" cy="452596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RCDS team has curated a collection of annotated </a:t>
            </a:r>
            <a:r>
              <a:rPr lang="en-GB" dirty="0">
                <a:hlinkClick r:id="rId3"/>
              </a:rPr>
              <a:t>exemplar projects</a:t>
            </a:r>
            <a:r>
              <a:rPr lang="en-GB" dirty="0"/>
              <a:t> known as </a:t>
            </a:r>
            <a:r>
              <a:rPr lang="en-GB" dirty="0" err="1">
                <a:hlinkClick r:id="rId4"/>
              </a:rPr>
              <a:t>ReCoDE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These demonstrate core research computing and data science principles applied to real problems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Accompanied by detailed descriptions of how they work, and the design decisions taken.</a:t>
            </a:r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en-GB" dirty="0"/>
              <a:t>Exemplars using Matplotlib:</a:t>
            </a:r>
          </a:p>
          <a:p>
            <a:pPr marL="504891" lvl="2" indent="-342900"/>
            <a:r>
              <a:rPr lang="en-GB" dirty="0">
                <a:hlinkClick r:id="rId5"/>
              </a:rPr>
              <a:t>Euler-Maruyama</a:t>
            </a:r>
            <a:endParaRPr lang="en-GB" dirty="0"/>
          </a:p>
          <a:p>
            <a:pPr marL="666884" lvl="3" indent="-342900"/>
            <a:r>
              <a:rPr lang="en-GB" dirty="0"/>
              <a:t>Solves stochastic differential equations</a:t>
            </a:r>
          </a:p>
          <a:p>
            <a:pPr marL="666884" lvl="3" indent="-342900"/>
            <a:r>
              <a:rPr lang="en-GB" dirty="0"/>
              <a:t>Written in Python using </a:t>
            </a:r>
            <a:r>
              <a:rPr lang="en-GB" dirty="0" err="1"/>
              <a:t>Numpy</a:t>
            </a:r>
            <a:r>
              <a:rPr lang="en-GB" dirty="0"/>
              <a:t> and object-oriented design</a:t>
            </a:r>
          </a:p>
          <a:p>
            <a:pPr marL="666884" lvl="3" indent="-342900"/>
            <a:r>
              <a:rPr lang="en-GB" dirty="0"/>
              <a:t>Plots outputs </a:t>
            </a:r>
            <a:r>
              <a:rPr lang="en-GB"/>
              <a:t>using </a:t>
            </a:r>
            <a:r>
              <a:rPr lang="en-GB" dirty="0"/>
              <a:t>M</a:t>
            </a:r>
            <a:r>
              <a:rPr lang="en-GB"/>
              <a:t>atplotlib</a:t>
            </a:r>
            <a:endParaRPr lang="en-GB" dirty="0"/>
          </a:p>
          <a:p>
            <a:pPr marL="504891" lvl="2" indent="-342900"/>
            <a:r>
              <a:rPr lang="en-GB" dirty="0">
                <a:hlinkClick r:id="rId6"/>
              </a:rPr>
              <a:t>SPH Solver for 2D Navier-Stokes</a:t>
            </a:r>
            <a:endParaRPr lang="en-GB" dirty="0"/>
          </a:p>
          <a:p>
            <a:pPr marL="666884" lvl="3" indent="-342900"/>
            <a:r>
              <a:rPr lang="en-GB" dirty="0"/>
              <a:t>Solves Navier-Stokes fluid dynamics equations</a:t>
            </a:r>
          </a:p>
          <a:p>
            <a:pPr marL="666884" lvl="3" indent="-342900"/>
            <a:r>
              <a:rPr lang="en-GB" dirty="0"/>
              <a:t>Written primarily in C++</a:t>
            </a:r>
          </a:p>
          <a:p>
            <a:pPr marL="666884" lvl="3" indent="-342900"/>
            <a:r>
              <a:rPr lang="en-GB" dirty="0"/>
              <a:t>Reads output files using Python and plots outputs with Matplotlib</a:t>
            </a:r>
          </a:p>
        </p:txBody>
      </p:sp>
    </p:spTree>
    <p:extLst>
      <p:ext uri="{BB962C8B-B14F-4D97-AF65-F5344CB8AC3E}">
        <p14:creationId xmlns:p14="http://schemas.microsoft.com/office/powerpoint/2010/main" val="428859421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9A737-0B87-8D06-30BC-159A01E5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AE690-3DB5-C8AC-A9B4-2E152B27C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Please take 3 minutes to complete the evaluation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64DF49-9A4D-5154-542F-802801365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D5EC-1C2F-4E5C-817B-92E54AD71364}" type="datetime1">
              <a:rPr lang="en-GB" smtClean="0"/>
              <a:t>25/03/2025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B811AD-8D42-0DE4-1E96-E0C6A5A11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Plotting in Python with Matplotlib</a:t>
            </a:r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1DDFA7-DE3D-8D77-CFD3-B19A6CF5B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53E11-492D-48B3-9F9B-09541CA2A39A}" type="slidenum">
              <a:rPr lang="en-GB" smtClean="0"/>
              <a:pPr/>
              <a:t>6</a:t>
            </a:fld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7DBC8-6B4B-6860-9339-77D08AD9EA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67B57BE-29B8-B7BA-15CB-930F83F6EB2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5768248" y="1509025"/>
            <a:ext cx="5489924" cy="4142267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000" dirty="0"/>
              <a:t>Once you’ve completed this course, please provide feedback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The link is </a:t>
            </a:r>
            <a:r>
              <a:rPr lang="en-GB" sz="2600" b="0" i="0" u="sng" dirty="0">
                <a:solidFill>
                  <a:srgbClr val="0563C1"/>
                </a:solidFill>
                <a:effectLst/>
                <a:hlinkClick r:id="rId3"/>
              </a:rPr>
              <a:t>https://tinyurl.com/feedback-rcds</a:t>
            </a:r>
            <a:endParaRPr lang="en-GB" sz="2600" b="0" i="0" u="sng" dirty="0">
              <a:solidFill>
                <a:srgbClr val="0563C1"/>
              </a:solidFill>
              <a:effectLst/>
            </a:endParaRP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You should also have received an email with this link</a:t>
            </a:r>
          </a:p>
          <a:p>
            <a:pPr marL="457200" lvl="1" indent="-457200">
              <a:buFont typeface="Arial" panose="020B0604020202020204" pitchFamily="34" charset="0"/>
              <a:buChar char="•"/>
            </a:pPr>
            <a:r>
              <a:rPr lang="en-GB" sz="2600" dirty="0"/>
              <a:t>This helps us improve the class for future students</a:t>
            </a:r>
          </a:p>
          <a:p>
            <a:endParaRPr lang="en-US" dirty="0"/>
          </a:p>
        </p:txBody>
      </p:sp>
      <p:pic>
        <p:nvPicPr>
          <p:cNvPr id="4" name="Picture 3" descr="Qr code&#10;&#10;Description automatically generated">
            <a:extLst>
              <a:ext uri="{FF2B5EF4-FFF2-40B4-BE49-F238E27FC236}">
                <a16:creationId xmlns:a16="http://schemas.microsoft.com/office/drawing/2014/main" id="{89D60691-669D-C1E1-2567-473D504575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518" y="1420597"/>
            <a:ext cx="4307349" cy="4307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19007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615D4-9245-FCA1-6CB2-585C3C3F1965}"/>
              </a:ext>
            </a:extLst>
          </p:cNvPr>
          <p:cNvSpPr txBox="1">
            <a:spLocks/>
          </p:cNvSpPr>
          <p:nvPr/>
        </p:nvSpPr>
        <p:spPr>
          <a:xfrm>
            <a:off x="479685" y="2735705"/>
            <a:ext cx="11265108" cy="3753327"/>
          </a:xfrm>
          <a:prstGeom prst="rect">
            <a:avLst/>
          </a:prstGeom>
        </p:spPr>
        <p:txBody>
          <a:bodyPr/>
          <a:lstStyle>
            <a:lvl1pPr algn="l" defTabSz="68576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>
                <a:solidFill>
                  <a:srgbClr val="0064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00FF7F"/>
                </a:solidFill>
              </a:rPr>
              <a:t>Postgraduate Research Experience Survey (PRES) 2025</a:t>
            </a:r>
          </a:p>
          <a:p>
            <a:endParaRPr lang="en-US" dirty="0">
              <a:solidFill>
                <a:srgbClr val="00FF7F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FF7F"/>
                </a:solidFill>
              </a:rPr>
              <a:t>Opens 24 April 2025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FF7F"/>
                </a:solidFill>
              </a:rPr>
              <a:t>Closes 15 May 2025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FF7F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rgbClr val="00FF7F"/>
              </a:solidFill>
            </a:endParaRPr>
          </a:p>
          <a:p>
            <a:r>
              <a:rPr lang="en-US" dirty="0">
                <a:solidFill>
                  <a:srgbClr val="00FF7F"/>
                </a:solidFill>
              </a:rPr>
              <a:t>Find out what action we have taken to address your feedback in previous surveys: </a:t>
            </a:r>
            <a:r>
              <a:rPr lang="en-GB" dirty="0">
                <a:solidFill>
                  <a:srgbClr val="EE82EE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Postgraduate Research Experience Survey (PRES) | Current students | Imperial College London</a:t>
            </a:r>
            <a:endParaRPr lang="en-US" dirty="0">
              <a:solidFill>
                <a:srgbClr val="EE82EE"/>
              </a:solidFill>
            </a:endParaRPr>
          </a:p>
          <a:p>
            <a:endParaRPr lang="en-US" dirty="0">
              <a:solidFill>
                <a:srgbClr val="00FF7F"/>
              </a:solidFill>
            </a:endParaRPr>
          </a:p>
          <a:p>
            <a:endParaRPr lang="en-US" dirty="0">
              <a:solidFill>
                <a:srgbClr val="00FF7F"/>
              </a:solidFill>
            </a:endParaRPr>
          </a:p>
          <a:p>
            <a:r>
              <a:rPr lang="en-US" dirty="0">
                <a:solidFill>
                  <a:srgbClr val="00FF7F"/>
                </a:solidFill>
              </a:rPr>
              <a:t>Look out for your unique link to complete the survey – sent to your Imperial email address </a:t>
            </a:r>
            <a:r>
              <a:rPr lang="en-GB" sz="1800" dirty="0">
                <a:latin typeface="Imperial Sans Display"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endParaRPr lang="en-US" dirty="0">
              <a:solidFill>
                <a:srgbClr val="00FF7F"/>
              </a:solidFill>
            </a:endParaRPr>
          </a:p>
          <a:p>
            <a:endParaRPr lang="en-US" dirty="0">
              <a:solidFill>
                <a:srgbClr val="00FF7F"/>
              </a:solidFill>
            </a:endParaRPr>
          </a:p>
          <a:p>
            <a:endParaRPr lang="en-US" dirty="0">
              <a:solidFill>
                <a:srgbClr val="00FF7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1427888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92A0-DAFD-2CE4-F5BD-315A0135CD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7500" y="3338513"/>
            <a:ext cx="9144000" cy="1828800"/>
          </a:xfrm>
        </p:spPr>
        <p:txBody>
          <a:bodyPr/>
          <a:lstStyle/>
          <a:p>
            <a:r>
              <a:rPr lang="en-US" dirty="0">
                <a:solidFill>
                  <a:srgbClr val="98FB98"/>
                </a:solidFill>
              </a:rPr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6972F5-B010-8428-D0AA-F619C83E71D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30200" y="5878513"/>
            <a:ext cx="5606257" cy="652463"/>
          </a:xfrm>
        </p:spPr>
        <p:txBody>
          <a:bodyPr/>
          <a:lstStyle/>
          <a:p>
            <a:r>
              <a:rPr lang="en-US" dirty="0"/>
              <a:t>Presentation Title</a:t>
            </a:r>
          </a:p>
          <a:p>
            <a:r>
              <a:rPr lang="en-US" dirty="0"/>
              <a:t>DD/MM/YYYY</a:t>
            </a:r>
          </a:p>
        </p:txBody>
      </p:sp>
    </p:spTree>
    <p:extLst>
      <p:ext uri="{BB962C8B-B14F-4D97-AF65-F5344CB8AC3E}">
        <p14:creationId xmlns:p14="http://schemas.microsoft.com/office/powerpoint/2010/main" val="228745162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ICL PPT Theme">
  <a:themeElements>
    <a:clrScheme name="Imperial colour theme">
      <a:dk1>
        <a:sysClr val="windowText" lastClr="000000"/>
      </a:dk1>
      <a:lt1>
        <a:sysClr val="window" lastClr="FFFFFF"/>
      </a:lt1>
      <a:dk2>
        <a:srgbClr val="000080"/>
      </a:dk2>
      <a:lt2>
        <a:srgbClr val="F5F5F5"/>
      </a:lt2>
      <a:accent1>
        <a:srgbClr val="0000CD"/>
      </a:accent1>
      <a:accent2>
        <a:srgbClr val="C71585"/>
      </a:accent2>
      <a:accent3>
        <a:srgbClr val="7B68EE"/>
      </a:accent3>
      <a:accent4>
        <a:srgbClr val="FF0000"/>
      </a:accent4>
      <a:accent5>
        <a:srgbClr val="FF4500"/>
      </a:accent5>
      <a:accent6>
        <a:srgbClr val="006400"/>
      </a:accent6>
      <a:hlink>
        <a:srgbClr val="000080"/>
      </a:hlink>
      <a:folHlink>
        <a:srgbClr val="C71585"/>
      </a:folHlink>
    </a:clrScheme>
    <a:fontScheme name="Imperial College Standard Font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5000"/>
          </a:lnSpc>
          <a:defRPr sz="1600" dirty="0">
            <a:solidFill>
              <a:schemeClr val="tx1"/>
            </a:solidFill>
          </a:defRPr>
        </a:defPPr>
      </a:lstStyle>
    </a:txDef>
  </a:objectDefaults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Arial_ICL_PowerPoint 16_9 template.potx" id="{0A6366DA-4143-4819-954D-649CAC6891CC}" vid="{00E466E9-FA83-448D-94BE-48FEA435C0D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">
      <a:srgbClr val="232333"/>
    </a:custClr>
    <a:custClr name="Navy">
      <a:srgbClr val="000080"/>
    </a:custClr>
    <a:custClr name="Saddle Brown">
      <a:srgbClr val="8B4513"/>
    </a:custClr>
    <a:custClr name="Teal">
      <a:srgbClr val="008080"/>
    </a:custClr>
    <a:custClr name="Medium Violet Red">
      <a:srgbClr val="C71585"/>
    </a:custClr>
    <a:custClr name="Indigo">
      <a:srgbClr val="4B0082"/>
    </a:custClr>
    <a:custClr name="Crimson">
      <a:srgbClr val="DC143C"/>
    </a:custClr>
    <a:custClr name="Orange Red">
      <a:srgbClr val="FF4500"/>
    </a:custClr>
    <a:custClr name="Dark Green">
      <a:srgbClr val="006400"/>
    </a:custClr>
    <a:custClr>
      <a:srgbClr val="FFFFFF"/>
    </a:custClr>
    <a:custClr name="Slate Grey">
      <a:srgbClr val="708090"/>
    </a:custClr>
    <a:custClr name="Imperial Blue">
      <a:srgbClr val="0000CD"/>
    </a:custClr>
    <a:custClr name="Yellow">
      <a:srgbClr val="FFFF00"/>
    </a:custClr>
    <a:custClr name="Turquoise">
      <a:srgbClr val="40E0D0"/>
    </a:custClr>
    <a:custClr name="Violet">
      <a:srgbClr val="EE82EE"/>
    </a:custClr>
    <a:custClr name="Medium Blue Slate">
      <a:srgbClr val="7B68EE"/>
    </a:custClr>
    <a:custClr name="Red">
      <a:srgbClr val="FF0000"/>
    </a:custClr>
    <a:custClr name="Dark Orange">
      <a:srgbClr val="FF8C00"/>
    </a:custClr>
    <a:custClr name="Spring Green">
      <a:srgbClr val="00FF7F"/>
    </a:custClr>
    <a:custClr>
      <a:srgbClr val="FFFFFF"/>
    </a:custClr>
    <a:custClr name="White Smoke">
      <a:srgbClr val="F5F5F5"/>
    </a:custClr>
    <a:custClr name="Deep Sky Blue">
      <a:srgbClr val="00BFFF"/>
    </a:custClr>
    <a:custClr name="Khaki">
      <a:srgbClr val="F0E68C"/>
    </a:custClr>
    <a:custClr name="Pale Turquoise">
      <a:srgbClr val="AFEEEE"/>
    </a:custClr>
    <a:custClr name="Light Pink">
      <a:srgbClr val="FFB6C1"/>
    </a:custClr>
    <a:custClr name="Lavender">
      <a:srgbClr val="E6E6FA"/>
    </a:custClr>
    <a:custClr name="Salmon">
      <a:srgbClr val="FA8072"/>
    </a:custClr>
    <a:custClr name="Orange">
      <a:srgbClr val="FFA500"/>
    </a:custClr>
    <a:custClr name="Pale Green">
      <a:srgbClr val="98FB98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ICL PPT Theme</Template>
  <TotalTime>3461</TotalTime>
  <Words>432</Words>
  <Application>Microsoft Office PowerPoint</Application>
  <PresentationFormat>Widescreen</PresentationFormat>
  <Paragraphs>78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Times New Roman</vt:lpstr>
      <vt:lpstr>Arial</vt:lpstr>
      <vt:lpstr>Calibri</vt:lpstr>
      <vt:lpstr>Imperial Sans Display</vt:lpstr>
      <vt:lpstr>ICL PPT Theme</vt:lpstr>
      <vt:lpstr>Plotting in Python with Matplotlib</vt:lpstr>
      <vt:lpstr>Important Information on Marking your Attendance on Inkpath</vt:lpstr>
      <vt:lpstr>Learning Outcomes</vt:lpstr>
      <vt:lpstr>Course Materials</vt:lpstr>
      <vt:lpstr>ReCoDE</vt:lpstr>
      <vt:lpstr>Please take 3 minutes to complete the evaluation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goes here xxxxx</dc:title>
  <dc:creator>Carly Murphy-Merrydew</dc:creator>
  <cp:lastModifiedBy>Cooling, Chris</cp:lastModifiedBy>
  <cp:revision>17</cp:revision>
  <dcterms:created xsi:type="dcterms:W3CDTF">2024-09-12T08:44:53Z</dcterms:created>
  <dcterms:modified xsi:type="dcterms:W3CDTF">2025-03-25T09:57:03Z</dcterms:modified>
</cp:coreProperties>
</file>