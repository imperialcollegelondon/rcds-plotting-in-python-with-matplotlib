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324" r:id="rId2"/>
    <p:sldId id="334" r:id="rId3"/>
    <p:sldId id="361" r:id="rId4"/>
    <p:sldId id="408" r:id="rId5"/>
    <p:sldId id="407" r:id="rId6"/>
    <p:sldId id="359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9D9F6-F6BC-4CA5-9D41-EE8962C7CC1D}" v="2" dt="2026-10-09T10:10:27.54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2" autoAdjust="0"/>
    <p:restoredTop sz="71436" autoAdjust="0"/>
  </p:normalViewPr>
  <p:slideViewPr>
    <p:cSldViewPr snapToGrid="0" showGuides="1">
      <p:cViewPr varScale="1">
        <p:scale>
          <a:sx n="53" d="100"/>
          <a:sy n="53" d="100"/>
        </p:scale>
        <p:origin x="404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13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1312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ling, Chris" userId="6dcf99c9-2ba5-410a-8445-0893a3d1421f" providerId="ADAL" clId="{0564427D-CD1D-4B33-9C97-2A8069F97102}"/>
    <pc:docChg chg="custSel modSld">
      <pc:chgData name="Cooling, Chris" userId="6dcf99c9-2ba5-410a-8445-0893a3d1421f" providerId="ADAL" clId="{0564427D-CD1D-4B33-9C97-2A8069F97102}" dt="2026-10-09T10:10:59.766" v="8" actId="14100"/>
      <pc:docMkLst>
        <pc:docMk/>
      </pc:docMkLst>
      <pc:sldChg chg="addSp delSp modSp mod">
        <pc:chgData name="Cooling, Chris" userId="6dcf99c9-2ba5-410a-8445-0893a3d1421f" providerId="ADAL" clId="{0564427D-CD1D-4B33-9C97-2A8069F97102}" dt="2026-10-09T10:10:59.766" v="8" actId="14100"/>
        <pc:sldMkLst>
          <pc:docMk/>
          <pc:sldMk cId="1507190070" sldId="359"/>
        </pc:sldMkLst>
        <pc:spChg chg="mod">
          <ac:chgData name="Cooling, Chris" userId="6dcf99c9-2ba5-410a-8445-0893a3d1421f" providerId="ADAL" clId="{0564427D-CD1D-4B33-9C97-2A8069F97102}" dt="2026-10-09T10:10:31.500" v="4" actId="255"/>
          <ac:spMkLst>
            <pc:docMk/>
            <pc:sldMk cId="1507190070" sldId="359"/>
            <ac:spMk id="6" creationId="{F67B57BE-29B8-B7BA-15CB-930F83F6EB26}"/>
          </ac:spMkLst>
        </pc:spChg>
        <pc:picChg chg="add mod">
          <ac:chgData name="Cooling, Chris" userId="6dcf99c9-2ba5-410a-8445-0893a3d1421f" providerId="ADAL" clId="{0564427D-CD1D-4B33-9C97-2A8069F97102}" dt="2026-10-09T10:10:59.766" v="8" actId="14100"/>
          <ac:picMkLst>
            <pc:docMk/>
            <pc:sldMk cId="1507190070" sldId="359"/>
            <ac:picMk id="5" creationId="{BDD09093-2823-8DF1-B87B-9EFAE4299CAD}"/>
          </ac:picMkLst>
        </pc:picChg>
        <pc:picChg chg="del">
          <ac:chgData name="Cooling, Chris" userId="6dcf99c9-2ba5-410a-8445-0893a3d1421f" providerId="ADAL" clId="{0564427D-CD1D-4B33-9C97-2A8069F97102}" dt="2026-10-09T10:09:53.155" v="0" actId="478"/>
          <ac:picMkLst>
            <pc:docMk/>
            <pc:sldMk cId="1507190070" sldId="359"/>
            <ac:picMk id="10" creationId="{50B9FAF5-2A53-D52B-CE70-2EBC7C63CD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0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37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Check Gotchas/gotchas.f90 for example of behaviour you might </a:t>
            </a:r>
            <a:r>
              <a:rPr lang="en-GB"/>
              <a:t>not expect.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40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953376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035571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89454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464863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75BF-6B10-4E88-A37A-C2325E8EA74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rgbClr val="232333"/>
                </a:solidFill>
              </a:defRPr>
            </a:lvl1pPr>
            <a:lvl2pP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1EB1E-B189-4841-87F6-C5C35B2AF1A0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00FF7F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00FF7F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AB27-8D95-44FC-AA44-826493E7D06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232333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232333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232333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232333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232333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E963B0-C23E-4775-B818-9308814A27F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A2D4-509E-4D1B-BF00-3BBC2642DBBD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18188-43FA-4D60-9911-3A9354CBB8F0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1D0C-4BA4-4ED8-8E9E-74B79B8B15AD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4125-ADB2-42DA-ABE1-4DDAB9F4BC14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F639-5BAD-4ECA-B213-95E662BF0AB8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4FB9-61F3-4706-A394-57353A4512E5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0D2E2-81C4-4D6A-95B8-392D5302E14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6B08-35C5-43AE-9AA1-890C9E633C9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95793-2B16-4B31-9A7C-BA9277BD25E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E0BA-400D-4C27-9DDD-FF0DB010D91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E078-0C53-421F-A43C-9782FD7307AA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4CE61-011F-49EA-A285-6F1DDE0A5DF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6400"/>
              </a:buClr>
              <a:defRPr sz="1800"/>
            </a:lvl3pPr>
            <a:lvl4pPr rtl="0">
              <a:buClr>
                <a:srgbClr val="006400"/>
              </a:buClr>
              <a:defRPr sz="1800"/>
            </a:lvl4pPr>
            <a:lvl5pPr rtl="0"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73BE-E705-46B7-BC89-BC8D7BD278B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D7CDE-7B1E-4FBD-9A2F-C93AF1E00BB7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7A87-E6D1-4117-8DC6-92C053157D5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C7C3-54CE-4D8F-9204-334660AD10F0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A3C102-8BAA-4F00-A81B-2DD04A5C8C39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8807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EED6ED-B9A6-4C24-9796-047AA68D3B81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 descr="A black and white image of two people&#10;&#10;Description automatically generated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B309BC-F231-47A4-B368-76EDD209C8C8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736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B0E597-AB25-47D4-B585-F29B3A935439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7928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8E58AD8-DBDA-4C25-9024-C000E46B0C3A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246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3C405-49EB-4652-B989-B09465A57833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5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DC1DE3-986A-4265-8DAC-82679DB192C9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026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4ABF5-1FE3-4E04-B71E-B7E78F6E63B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E0DFC-FDBA-495A-ACA3-A9B9713F363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77909-9A00-4992-8645-106E920C148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2A30-436D-4FE7-BD5D-4583405D27F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0C1B7-BFB6-4332-8A23-51E326F6AB7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8750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7B30-7BAB-490F-93A4-B1B05D7E266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416F-D7DB-44F8-9216-512C69EC7EE9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928214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0E946-BCAF-4D68-ADE7-B8C07AC630B0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5C2C-B1DC-4981-B1FC-B3C1972BA96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A19F8-4691-4F20-93BF-107A0709A17B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DE67-160D-4E30-937F-FE5EB3FEFBA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D9BE-C00D-49E6-A4E9-7FF51EF093D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4C64A-7437-4773-9658-E1FBB2A40BB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3F17-E6E3-4AAF-AC1D-361A750BE5D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919A1-31FF-4B02-91EA-78731E95471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6400"/>
              </a:buClr>
              <a:defRPr sz="1800"/>
            </a:lvl3pPr>
            <a:lvl4pPr>
              <a:buClr>
                <a:srgbClr val="006400"/>
              </a:buClr>
              <a:defRPr sz="1800"/>
            </a:lvl4pPr>
            <a:lvl5pPr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877CB-A3E7-4FF7-BDB7-BD4511F97DE6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95F00-7B8D-4487-8BEC-1106FCC2050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3789-276B-4AA8-B726-2D6546568C3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een and black logo&#10;&#10;Description automatically generated">
            <a:extLst>
              <a:ext uri="{FF2B5EF4-FFF2-40B4-BE49-F238E27FC236}">
                <a16:creationId xmlns:a16="http://schemas.microsoft.com/office/drawing/2014/main" id="{98DBF964-2C27-A4D1-7AEE-2AE56263D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70" y="327819"/>
            <a:ext cx="11536293" cy="22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9DDF72-DF0B-FA74-2E07-D490692B3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188" y="327819"/>
            <a:ext cx="3964683" cy="109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rgbClr val="232333"/>
                </a:solidFill>
              </a:defRPr>
            </a:lvl1pPr>
          </a:lstStyle>
          <a:p>
            <a:fld id="{EA445BD8-D8AF-4E93-BA66-C54D350368AD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rgbClr val="232333"/>
                </a:solidFill>
              </a:defRPr>
            </a:lvl1pPr>
          </a:lstStyle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rgbClr val="232333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rgbClr val="232333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715" r:id="rId2"/>
    <p:sldLayoutId id="2147483716" r:id="rId3"/>
    <p:sldLayoutId id="2147483717" r:id="rId4"/>
    <p:sldLayoutId id="2147483718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721" r:id="rId26"/>
    <p:sldLayoutId id="2147483666" r:id="rId27"/>
    <p:sldLayoutId id="2147483719" r:id="rId28"/>
    <p:sldLayoutId id="2147483720" r:id="rId29"/>
    <p:sldLayoutId id="2147483722" r:id="rId30"/>
    <p:sldLayoutId id="2147483723" r:id="rId31"/>
    <p:sldLayoutId id="2147483724" r:id="rId32"/>
    <p:sldLayoutId id="2147483661" r:id="rId33"/>
    <p:sldLayoutId id="2147483695" r:id="rId34"/>
    <p:sldLayoutId id="2147483696" r:id="rId35"/>
    <p:sldLayoutId id="2147483669" r:id="rId36"/>
    <p:sldLayoutId id="2147483697" r:id="rId37"/>
    <p:sldLayoutId id="2147483698" r:id="rId38"/>
    <p:sldLayoutId id="2147483678" r:id="rId39"/>
    <p:sldLayoutId id="2147483699" r:id="rId40"/>
    <p:sldLayoutId id="2147483700" r:id="rId41"/>
    <p:sldLayoutId id="2147483662" r:id="rId42"/>
    <p:sldLayoutId id="2147483701" r:id="rId43"/>
    <p:sldLayoutId id="2147483702" r:id="rId44"/>
    <p:sldLayoutId id="2147483663" r:id="rId45"/>
    <p:sldLayoutId id="2147483703" r:id="rId46"/>
    <p:sldLayoutId id="2147483704" r:id="rId47"/>
    <p:sldLayoutId id="2147483664" r:id="rId48"/>
    <p:sldLayoutId id="2147483705" r:id="rId49"/>
    <p:sldLayoutId id="2147483706" r:id="rId50"/>
    <p:sldLayoutId id="2147483665" r:id="rId51"/>
    <p:sldLayoutId id="2147483670" r:id="rId52"/>
    <p:sldLayoutId id="2147483673" r:id="rId5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06400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erialCollegeLondon/RCDS-plotting-in-python-with-matplotli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ImperialCollegeLondon/RCDS-object-oriented-python/blob/master/README.m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mperialcollegelondon.github.io/ReCoDE-home/exemplar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imperialcollegelondon.github.io/ReCoDE-SPH-solver-2D-NS/" TargetMode="External"/><Relationship Id="rId5" Type="http://schemas.openxmlformats.org/officeDocument/2006/relationships/hyperlink" Target="https://imperialcollegelondon.github.io/ReCoDe-Euler-Maruyama/" TargetMode="External"/><Relationship Id="rId4" Type="http://schemas.openxmlformats.org/officeDocument/2006/relationships/hyperlink" Target="https://imperialcollegelondon.github.io/ReCoDE-hom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cri.short.gy/feedback-plot-p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3C91-78F6-7FD7-669E-A1FEF5EAC3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Plotting in Python with Matplotlib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4D7A8-3CEC-9DE0-CCD4-3A1A94F60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Chris Cooling</a:t>
            </a:r>
          </a:p>
          <a:p>
            <a:r>
              <a:rPr lang="en-GB" dirty="0"/>
              <a:t>Senior Teaching Fellow</a:t>
            </a:r>
          </a:p>
          <a:p>
            <a:r>
              <a:rPr lang="en-US" dirty="0"/>
              <a:t>ECRI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4375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/>
              <a:t>Important Information on Marking your Attendance on Inkpath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7" y="1773239"/>
            <a:ext cx="11541125" cy="3608230"/>
          </a:xfrm>
        </p:spPr>
        <p:txBody>
          <a:bodyPr/>
          <a:lstStyle/>
          <a:p>
            <a:r>
              <a:rPr lang="en-GB" sz="3200" dirty="0"/>
              <a:t>I will show you a QR code at the end of the session allowing you to mark your attendance on Inkpath. Please do not mark your attendance until then.</a:t>
            </a:r>
            <a:br>
              <a:rPr lang="en-GB" sz="3200" dirty="0"/>
            </a:b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If you are a Postgraduate Research student, this is required for receiving your ECRI professional development credit for this course.</a:t>
            </a:r>
            <a:endParaRPr lang="en-GB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81B29A81-DA66-4397-B1B5-F97764FA7D32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186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71500" lvl="0" indent="-5715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Understand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 how to use example codes to create high-quality figures for your publications and thesis</a:t>
            </a:r>
          </a:p>
          <a:p>
            <a:pPr marL="571500" lvl="0" indent="-5715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 and export a variety of plots using matplotlib</a:t>
            </a:r>
          </a:p>
          <a:p>
            <a:pPr marL="571500" lvl="0" indent="-5715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Represent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 multiple data series efficiently on a single plot</a:t>
            </a:r>
          </a:p>
          <a:p>
            <a:pPr marL="571500" lvl="0" indent="-5715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Customise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 the appearance of plots and generate subplots in </a:t>
            </a:r>
            <a:r>
              <a:rPr lang="en-GB" sz="3600">
                <a:latin typeface="Arial" panose="020B0604020202020204" pitchFamily="34" charset="0"/>
                <a:cs typeface="Arial" panose="020B0604020202020204" pitchFamily="34" charset="0"/>
              </a:rPr>
              <a:t>one figure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32E73D5C-B207-45D9-810C-3B257089DCE4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75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course materials are stored in a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GitHub repository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Instructions for using the materials are found in the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readme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Links to open the course notebooks in </a:t>
            </a:r>
            <a:r>
              <a:rPr lang="en-US" sz="36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Colab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are at the bottom of the readme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materials can also be downloaded and run locally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also star/fork the repository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6E0350A5-0E1C-4E70-B0B6-3373B5C9F5CF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6149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 err="1"/>
              <a:t>ReCoDE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4B4BC937-2805-4BE1-9C10-C67D8B6C9243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5313110" cy="137319"/>
          </a:xfrm>
        </p:spPr>
        <p:txBody>
          <a:bodyPr/>
          <a:lstStyle/>
          <a:p>
            <a:r>
              <a:rPr lang="en-GB" dirty="0"/>
              <a:t>Introduction to Fortran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49521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E72B19A-BAEF-7DAE-DDC1-54394DA86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409363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RCDS team has curated a collection of annotated </a:t>
            </a:r>
            <a:r>
              <a:rPr lang="en-GB" dirty="0">
                <a:hlinkClick r:id="rId3"/>
              </a:rPr>
              <a:t>exemplar projects</a:t>
            </a:r>
            <a:r>
              <a:rPr lang="en-GB" dirty="0"/>
              <a:t> known as </a:t>
            </a:r>
            <a:r>
              <a:rPr lang="en-GB" dirty="0" err="1">
                <a:hlinkClick r:id="rId4"/>
              </a:rPr>
              <a:t>ReCoDE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These demonstrate core research computing and data science principles applied to real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Accompanied by detailed descriptions of how they work, and the design decisions taken.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dirty="0"/>
              <a:t>Exemplars using Matplotlib:</a:t>
            </a:r>
          </a:p>
          <a:p>
            <a:pPr marL="504891" lvl="2" indent="-342900"/>
            <a:r>
              <a:rPr lang="en-GB" dirty="0">
                <a:hlinkClick r:id="rId5"/>
              </a:rPr>
              <a:t>Euler-Maruyama</a:t>
            </a:r>
            <a:endParaRPr lang="en-GB" dirty="0"/>
          </a:p>
          <a:p>
            <a:pPr marL="666884" lvl="3" indent="-342900"/>
            <a:r>
              <a:rPr lang="en-GB" dirty="0"/>
              <a:t>Solves stochastic differential equations</a:t>
            </a:r>
          </a:p>
          <a:p>
            <a:pPr marL="666884" lvl="3" indent="-342900"/>
            <a:r>
              <a:rPr lang="en-GB" dirty="0"/>
              <a:t>Written in Python using </a:t>
            </a:r>
            <a:r>
              <a:rPr lang="en-GB" dirty="0" err="1"/>
              <a:t>Numpy</a:t>
            </a:r>
            <a:r>
              <a:rPr lang="en-GB" dirty="0"/>
              <a:t> and object-oriented design</a:t>
            </a:r>
          </a:p>
          <a:p>
            <a:pPr marL="666884" lvl="3" indent="-342900"/>
            <a:r>
              <a:rPr lang="en-GB" dirty="0"/>
              <a:t>Plots outputs </a:t>
            </a:r>
            <a:r>
              <a:rPr lang="en-GB"/>
              <a:t>using </a:t>
            </a:r>
            <a:r>
              <a:rPr lang="en-GB" dirty="0"/>
              <a:t>M</a:t>
            </a:r>
            <a:r>
              <a:rPr lang="en-GB"/>
              <a:t>atplotlib</a:t>
            </a:r>
            <a:endParaRPr lang="en-GB" dirty="0"/>
          </a:p>
          <a:p>
            <a:pPr marL="504891" lvl="2" indent="-342900"/>
            <a:r>
              <a:rPr lang="en-GB" dirty="0">
                <a:hlinkClick r:id="rId6"/>
              </a:rPr>
              <a:t>SPH Solver for 2D Navier-Stokes</a:t>
            </a:r>
            <a:endParaRPr lang="en-GB" dirty="0"/>
          </a:p>
          <a:p>
            <a:pPr marL="666884" lvl="3" indent="-342900"/>
            <a:r>
              <a:rPr lang="en-GB" dirty="0"/>
              <a:t>Solves Navier-Stokes fluid dynamics equations</a:t>
            </a:r>
          </a:p>
          <a:p>
            <a:pPr marL="666884" lvl="3" indent="-342900"/>
            <a:r>
              <a:rPr lang="en-GB" dirty="0"/>
              <a:t>Written primarily in C++</a:t>
            </a:r>
          </a:p>
          <a:p>
            <a:pPr marL="666884" lvl="3" indent="-342900"/>
            <a:r>
              <a:rPr lang="en-GB" dirty="0"/>
              <a:t>Reads output files using Python and plots outputs with Matplotlib</a:t>
            </a:r>
          </a:p>
        </p:txBody>
      </p:sp>
    </p:spTree>
    <p:extLst>
      <p:ext uri="{BB962C8B-B14F-4D97-AF65-F5344CB8AC3E}">
        <p14:creationId xmlns:p14="http://schemas.microsoft.com/office/powerpoint/2010/main" val="428859421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A737-0B87-8D06-30BC-159A01E5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E690-3DB5-C8AC-A9B4-2E152B27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take 3 minutes to complete the evaluation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4DF49-9A4D-5154-542F-80280136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D5EC-1C2F-4E5C-817B-92E54AD71364}" type="datetime1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811AD-8D42-0DE4-1E96-E0C6A5A1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Plotting in Python with Matplotlib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DDFA7-DE3D-8D77-CFD3-B19A6CF5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DBC8-6B4B-6860-9339-77D08AD9E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B57BE-29B8-B7BA-15CB-930F83F6EB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68248" y="1509025"/>
            <a:ext cx="5489924" cy="41422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Once you’ve completed this course, please provide feedback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The link is </a:t>
            </a:r>
            <a:r>
              <a:rPr lang="en-GB" sz="2800" dirty="0">
                <a:hlinkClick r:id="rId3"/>
              </a:rPr>
              <a:t>https://ecri.short.gy/feedback-plot-py</a:t>
            </a:r>
            <a:endParaRPr lang="en-GB" sz="28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You should also have received an email with this link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This helps us improve the class for future students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09093-2823-8DF1-B87B-9EFAE4299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87" y="1032710"/>
            <a:ext cx="5057726" cy="505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900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rPr lang="en-US" dirty="0">
                <a:solidFill>
                  <a:srgbClr val="98FB98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r>
              <a:rPr lang="en-US" dirty="0"/>
              <a:t>Presentation Title</a:t>
            </a:r>
          </a:p>
          <a:p>
            <a:r>
              <a:rPr lang="en-US" dirty="0"/>
              <a:t>DD/MM/YYYY</a:t>
            </a:r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CL_PowerPoint 16_9 template.potx" id="{0A6366DA-4143-4819-954D-649CAC6891CC}" vid="{00E466E9-FA83-448D-94BE-48FEA435C0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3462</TotalTime>
  <Words>372</Words>
  <Application>Microsoft Office PowerPoint</Application>
  <PresentationFormat>Widescreen</PresentationFormat>
  <Paragraphs>68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Times New Roman</vt:lpstr>
      <vt:lpstr>Arial</vt:lpstr>
      <vt:lpstr>ICL PPT Theme</vt:lpstr>
      <vt:lpstr>Plotting in Python with Matplotlib</vt:lpstr>
      <vt:lpstr>Important Information on Marking your Attendance on Inkpath</vt:lpstr>
      <vt:lpstr>Learning Outcomes</vt:lpstr>
      <vt:lpstr>Course Materials</vt:lpstr>
      <vt:lpstr>ReCoDE</vt:lpstr>
      <vt:lpstr>Please take 3 minutes to complete the evaluation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xxxxx</dc:title>
  <dc:creator>Carly Murphy-Merrydew</dc:creator>
  <cp:lastModifiedBy>Cooling, Chris</cp:lastModifiedBy>
  <cp:revision>17</cp:revision>
  <dcterms:created xsi:type="dcterms:W3CDTF">2024-09-12T08:44:53Z</dcterms:created>
  <dcterms:modified xsi:type="dcterms:W3CDTF">2026-10-09T10:11:01Z</dcterms:modified>
</cp:coreProperties>
</file>