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0"/>
  </p:notesMasterIdLst>
  <p:sldIdLst>
    <p:sldId id="324" r:id="rId2"/>
    <p:sldId id="334" r:id="rId3"/>
    <p:sldId id="361" r:id="rId4"/>
    <p:sldId id="408" r:id="rId5"/>
    <p:sldId id="407" r:id="rId6"/>
    <p:sldId id="359" r:id="rId7"/>
    <p:sldId id="276" r:id="rId8"/>
    <p:sldId id="279" r:id="rId9"/>
  </p:sldIdLst>
  <p:sldSz cx="12192000" cy="6858000"/>
  <p:notesSz cx="6858000" cy="9144000"/>
  <p:embeddedFontLst>
    <p:embeddedFont>
      <p:font typeface="Imperial Sans Display" panose="020B0503020202020204" pitchFamily="34" charset="0"/>
      <p:regular r:id="rId11"/>
      <p:bold r:id="rId12"/>
    </p:embeddedFont>
  </p:embeddedFontLst>
  <p:defaultTextStyle>
    <a:defPPr>
      <a:defRPr lang="en-US"/>
    </a:defPPr>
    <a:lvl1pPr marL="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7DC"/>
    <a:srgbClr val="F8F3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1A209A4-1239-4CD1-A947-9D47872CA66C}" v="1" dt="2025-10-16T13:20:13.506"/>
  </p1510:revLst>
</p1510:revInfo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52" autoAdjust="0"/>
    <p:restoredTop sz="71436" autoAdjust="0"/>
  </p:normalViewPr>
  <p:slideViewPr>
    <p:cSldViewPr snapToGrid="0" showGuides="1">
      <p:cViewPr varScale="1">
        <p:scale>
          <a:sx n="115" d="100"/>
          <a:sy n="115" d="100"/>
        </p:scale>
        <p:origin x="1444" y="7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41396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11" d="100"/>
          <a:sy n="111" d="100"/>
        </p:scale>
        <p:origin x="1312" y="8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oling, Chris" userId="6dcf99c9-2ba5-410a-8445-0893a3d1421f" providerId="ADAL" clId="{7056684F-ED0F-4C32-A0DA-6AFA7F6D1AF8}"/>
    <pc:docChg chg="addSld delSld modSld">
      <pc:chgData name="Cooling, Chris" userId="6dcf99c9-2ba5-410a-8445-0893a3d1421f" providerId="ADAL" clId="{7056684F-ED0F-4C32-A0DA-6AFA7F6D1AF8}" dt="2025-03-25T09:57:02.900" v="1"/>
      <pc:docMkLst>
        <pc:docMk/>
      </pc:docMkLst>
      <pc:sldChg chg="add">
        <pc:chgData name="Cooling, Chris" userId="6dcf99c9-2ba5-410a-8445-0893a3d1421f" providerId="ADAL" clId="{7056684F-ED0F-4C32-A0DA-6AFA7F6D1AF8}" dt="2025-03-25T09:57:02.900" v="1"/>
        <pc:sldMkLst>
          <pc:docMk/>
          <pc:sldMk cId="1031427888" sldId="276"/>
        </pc:sldMkLst>
      </pc:sldChg>
      <pc:sldChg chg="del">
        <pc:chgData name="Cooling, Chris" userId="6dcf99c9-2ba5-410a-8445-0893a3d1421f" providerId="ADAL" clId="{7056684F-ED0F-4C32-A0DA-6AFA7F6D1AF8}" dt="2025-03-25T09:56:46.495" v="0" actId="47"/>
        <pc:sldMkLst>
          <pc:docMk/>
          <pc:sldMk cId="3543295302" sldId="406"/>
        </pc:sldMkLst>
      </pc:sldChg>
    </pc:docChg>
  </pc:docChgLst>
  <pc:docChgLst>
    <pc:chgData name="Cooling, Chris" userId="6dcf99c9-2ba5-410a-8445-0893a3d1421f" providerId="ADAL" clId="{739BE2D0-369D-4BD5-8BA6-94C4381AF508}"/>
    <pc:docChg chg="custSel addSld delSld modSld">
      <pc:chgData name="Cooling, Chris" userId="6dcf99c9-2ba5-410a-8445-0893a3d1421f" providerId="ADAL" clId="{739BE2D0-369D-4BD5-8BA6-94C4381AF508}" dt="2025-02-17T10:56:17.387" v="599" actId="20577"/>
      <pc:docMkLst>
        <pc:docMk/>
      </pc:docMkLst>
      <pc:sldChg chg="modSp del mod">
        <pc:chgData name="Cooling, Chris" userId="6dcf99c9-2ba5-410a-8445-0893a3d1421f" providerId="ADAL" clId="{739BE2D0-369D-4BD5-8BA6-94C4381AF508}" dt="2025-02-17T10:25:52.806" v="134" actId="47"/>
        <pc:sldMkLst>
          <pc:docMk/>
          <pc:sldMk cId="4254443235" sldId="322"/>
        </pc:sldMkLst>
      </pc:sldChg>
      <pc:sldChg chg="modSp add mod">
        <pc:chgData name="Cooling, Chris" userId="6dcf99c9-2ba5-410a-8445-0893a3d1421f" providerId="ADAL" clId="{739BE2D0-369D-4BD5-8BA6-94C4381AF508}" dt="2025-02-17T10:25:48.380" v="133" actId="20577"/>
        <pc:sldMkLst>
          <pc:docMk/>
          <pc:sldMk cId="474143756" sldId="324"/>
        </pc:sldMkLst>
      </pc:sldChg>
      <pc:sldChg chg="modSp mod">
        <pc:chgData name="Cooling, Chris" userId="6dcf99c9-2ba5-410a-8445-0893a3d1421f" providerId="ADAL" clId="{739BE2D0-369D-4BD5-8BA6-94C4381AF508}" dt="2025-02-17T10:26:50.293" v="137" actId="20577"/>
        <pc:sldMkLst>
          <pc:docMk/>
          <pc:sldMk cId="16407505" sldId="361"/>
        </pc:sldMkLst>
      </pc:sldChg>
      <pc:sldChg chg="modSp add mod">
        <pc:chgData name="Cooling, Chris" userId="6dcf99c9-2ba5-410a-8445-0893a3d1421f" providerId="ADAL" clId="{739BE2D0-369D-4BD5-8BA6-94C4381AF508}" dt="2025-02-17T10:56:17.387" v="599" actId="20577"/>
        <pc:sldMkLst>
          <pc:docMk/>
          <pc:sldMk cId="4288594215" sldId="407"/>
        </pc:sldMkLst>
      </pc:sldChg>
    </pc:docChg>
  </pc:docChgLst>
  <pc:docChgLst>
    <pc:chgData name="Cooling, Chris" userId="6dcf99c9-2ba5-410a-8445-0893a3d1421f" providerId="ADAL" clId="{B1A209A4-1239-4CD1-A947-9D47872CA66C}"/>
    <pc:docChg chg="custSel modSld">
      <pc:chgData name="Cooling, Chris" userId="6dcf99c9-2ba5-410a-8445-0893a3d1421f" providerId="ADAL" clId="{B1A209A4-1239-4CD1-A947-9D47872CA66C}" dt="2025-10-16T13:20:20.527" v="5" actId="1076"/>
      <pc:docMkLst>
        <pc:docMk/>
      </pc:docMkLst>
      <pc:sldChg chg="addSp delSp modSp mod">
        <pc:chgData name="Cooling, Chris" userId="6dcf99c9-2ba5-410a-8445-0893a3d1421f" providerId="ADAL" clId="{B1A209A4-1239-4CD1-A947-9D47872CA66C}" dt="2025-10-16T13:20:20.527" v="5" actId="1076"/>
        <pc:sldMkLst>
          <pc:docMk/>
          <pc:sldMk cId="1507190070" sldId="359"/>
        </pc:sldMkLst>
        <pc:picChg chg="del">
          <ac:chgData name="Cooling, Chris" userId="6dcf99c9-2ba5-410a-8445-0893a3d1421f" providerId="ADAL" clId="{B1A209A4-1239-4CD1-A947-9D47872CA66C}" dt="2025-10-16T13:20:13.035" v="0" actId="478"/>
          <ac:picMkLst>
            <pc:docMk/>
            <pc:sldMk cId="1507190070" sldId="359"/>
            <ac:picMk id="4" creationId="{89D60691-669D-C1E1-2567-473D504575B3}"/>
          </ac:picMkLst>
        </pc:picChg>
        <pc:picChg chg="add mod">
          <ac:chgData name="Cooling, Chris" userId="6dcf99c9-2ba5-410a-8445-0893a3d1421f" providerId="ADAL" clId="{B1A209A4-1239-4CD1-A947-9D47872CA66C}" dt="2025-10-16T13:20:20.527" v="5" actId="1076"/>
          <ac:picMkLst>
            <pc:docMk/>
            <pc:sldMk cId="1507190070" sldId="359"/>
            <ac:picMk id="10" creationId="{50B9FAF5-2A53-D52B-CE70-2EBC7C63CD06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E0D2A8-8F95-47C2-ABE1-A779F5A43C98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7663E2-27CE-4C79-91D3-7F5C4262D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559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304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3373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Check Gotchas/gotchas.f90 for example of behaviour you might </a:t>
            </a:r>
            <a:r>
              <a:rPr lang="en-GB"/>
              <a:t>not expect.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8403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10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women looking at a computer&#10;&#10;Description automatically generated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33033340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459533762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90355710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96894547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84648638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975BF-6B10-4E88-A37A-C2325E8EA74D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rgbClr val="232333"/>
                </a:solidFill>
              </a:defRPr>
            </a:lvl1pPr>
            <a:lvl2pPr>
              <a:defRPr>
                <a:solidFill>
                  <a:srgbClr val="232333"/>
                </a:solidFill>
              </a:defRPr>
            </a:lvl2pPr>
            <a:lvl3pPr>
              <a:buClr>
                <a:srgbClr val="00FF7F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00FF7F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00FF7F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8481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1EB1E-B189-4841-87F6-C5C35B2AF1A0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buClr>
                <a:srgbClr val="00FF7F"/>
              </a:buClr>
              <a:defRPr>
                <a:solidFill>
                  <a:srgbClr val="232333"/>
                </a:solidFill>
              </a:defRPr>
            </a:lvl1pPr>
            <a:lvl2pPr>
              <a:buClr>
                <a:srgbClr val="00FF7F"/>
              </a:buClr>
              <a:defRPr>
                <a:solidFill>
                  <a:srgbClr val="232333"/>
                </a:solidFill>
              </a:defRPr>
            </a:lvl2pPr>
            <a:lvl3pPr>
              <a:buClr>
                <a:srgbClr val="00FF7F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00FF7F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00FF7F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122023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Khaki">
    <p:bg>
      <p:bgPr>
        <a:solidFill>
          <a:srgbClr val="98FB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5AB27-8D95-44FC-AA44-826493E7D06D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buClr>
                <a:srgbClr val="232333"/>
              </a:buClr>
              <a:defRPr>
                <a:solidFill>
                  <a:srgbClr val="232333"/>
                </a:solidFill>
              </a:defRPr>
            </a:lvl1pPr>
            <a:lvl2pPr>
              <a:buClr>
                <a:srgbClr val="232333"/>
              </a:buClr>
              <a:defRPr>
                <a:solidFill>
                  <a:srgbClr val="232333"/>
                </a:solidFill>
              </a:defRPr>
            </a:lvl2pPr>
            <a:lvl3pPr>
              <a:buClr>
                <a:srgbClr val="232333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232333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232333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4832032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Blue">
    <p:bg>
      <p:bgPr>
        <a:solidFill>
          <a:srgbClr val="006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238870"/>
            <a:ext cx="5163243" cy="3190130"/>
          </a:xfrm>
        </p:spPr>
        <p:txBody>
          <a:bodyPr/>
          <a:lstStyle>
            <a:lvl1pPr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0E963B0-C23E-4775-B818-9308814A27F1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819"/>
            <a:ext cx="5777508" cy="3101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C35426-417C-E41E-5A03-5974D3C79A0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751618283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7A2D4-509E-4D1B-BF00-3BBC2642DBBD}" type="datetime1">
              <a:rPr lang="en-GB" smtClean="0"/>
              <a:t>16/10/2025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317466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18188-43FA-4D60-9911-3A9354CBB8F0}" type="datetime1">
              <a:rPr lang="en-GB" smtClean="0"/>
              <a:t>16/10/2025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218463841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6400"/>
              </a:buClr>
              <a:defRPr/>
            </a:lvl3pPr>
            <a:lvl4pPr>
              <a:buClr>
                <a:srgbClr val="006400"/>
              </a:buClr>
              <a:defRPr/>
            </a:lvl4pPr>
            <a:lvl5pPr>
              <a:buClr>
                <a:srgbClr val="006400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CC1D0C-4BA4-4ED8-8E9E-74B79B8B15AD}" type="datetime1">
              <a:rPr lang="en-GB" smtClean="0"/>
              <a:t>16/10/2025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68526107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C4125-ADB2-42DA-ABE1-4DDAB9F4BC14}" type="datetime1">
              <a:rPr lang="en-GB" smtClean="0"/>
              <a:t>16/10/2025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90358580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2CF639-5BAD-4ECA-B213-95E662BF0AB8}" type="datetime1">
              <a:rPr lang="en-GB" smtClean="0"/>
              <a:t>16/10/2025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2019597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6400"/>
              </a:buClr>
              <a:defRPr/>
            </a:lvl3pPr>
            <a:lvl4pPr>
              <a:buClr>
                <a:srgbClr val="006400"/>
              </a:buClr>
              <a:defRPr/>
            </a:lvl4pPr>
            <a:lvl5pPr>
              <a:buClr>
                <a:srgbClr val="006400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B4FB9-61F3-4706-A394-57353A4512E5}" type="datetime1">
              <a:rPr lang="en-GB" smtClean="0"/>
              <a:t>16/10/2025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180747767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0D2E2-81C4-4D6A-95B8-392D5302E143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884756086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66B08-35C5-43AE-9AA1-890C9E633C9D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8663662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95793-2B16-4B31-9A7C-BA9277BD25E1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536248034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6E0BA-400D-4C27-9DDD-FF0DB010D912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037066738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FE078-0C53-421F-A43C-9782FD7307AA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160980370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4CE61-011F-49EA-A285-6F1DDE0A5DF4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6400"/>
              </a:buClr>
              <a:defRPr sz="1800"/>
            </a:lvl3pPr>
            <a:lvl4pPr rtl="0">
              <a:buClr>
                <a:srgbClr val="006400"/>
              </a:buClr>
              <a:defRPr sz="1800"/>
            </a:lvl4pPr>
            <a:lvl5pPr rtl="0">
              <a:buClr>
                <a:srgbClr val="006400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chemeClr val="accent6"/>
              </a:buClr>
              <a:defRPr sz="1800"/>
            </a:lvl3pPr>
            <a:lvl4pPr rtl="0">
              <a:buClr>
                <a:schemeClr val="accent6"/>
              </a:buClr>
              <a:defRPr sz="1800"/>
            </a:lvl4pPr>
            <a:lvl5pPr rtl="0"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chemeClr val="accent6"/>
              </a:buClr>
              <a:defRPr sz="1800"/>
            </a:lvl3pPr>
            <a:lvl4pPr rtl="0">
              <a:buClr>
                <a:schemeClr val="accent6"/>
              </a:buClr>
              <a:defRPr sz="1800"/>
            </a:lvl4pPr>
            <a:lvl5pPr rtl="0"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231540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D73BE-E705-46B7-BC89-BC8D7BD278BC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9344805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D7CDE-7B1E-4FBD-9A2F-C93AF1E00BB7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475397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07A87-E6D1-4117-8DC6-92C053157D5F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8019243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Blue">
    <p:bg>
      <p:bgPr>
        <a:solidFill>
          <a:srgbClr val="98FB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025"/>
            <a:ext cx="9984000" cy="5934075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C7C3-54CE-4D8F-9204-334660AD10F0}" type="datetime1">
              <a:rPr lang="en-GB" smtClean="0"/>
              <a:t>16/10/2025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A8D6E0-472D-9B14-F3A6-BC2F23E87040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467749574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FA3C102-8BAA-4F00-A81B-2DD04A5C8C39}" type="datetime1">
              <a:rPr lang="en-GB" smtClean="0"/>
              <a:t>16/10/2025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188077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2EED6ED-B9A6-4C24-9796-047AA68D3B81}" type="datetime1">
              <a:rPr lang="en-GB" smtClean="0"/>
              <a:t>16/10/2025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 descr="A black and white image of two people&#10;&#10;Description automatically generated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995235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0B309BC-F231-47A4-B368-76EDD209C8C8}" type="datetime1">
              <a:rPr lang="en-GB" smtClean="0"/>
              <a:t>16/10/2025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917366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FB0E597-AB25-47D4-B585-F29B3A935439}" type="datetime1">
              <a:rPr lang="en-GB" smtClean="0"/>
              <a:t>16/10/2025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779282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8E58AD8-DBDA-4C25-9024-C000E46B0C3A}" type="datetime1">
              <a:rPr lang="en-GB" smtClean="0"/>
              <a:t>16/10/2025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542469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FD3C405-49EB-4652-B989-B09465A57833}" type="datetime1">
              <a:rPr lang="en-GB" smtClean="0"/>
              <a:t>16/10/2025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5951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5DC1DE3-986A-4265-8DAC-82679DB192C9}" type="datetime1">
              <a:rPr lang="en-GB" smtClean="0"/>
              <a:t>16/10/2025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5240264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4ABF5-1FE3-4E04-B71E-B7E78F6E63BF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939635899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E0DFC-FDBA-495A-ACA3-A9B9713F363E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206395976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77909-9A00-4992-8645-106E920C148E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773322227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FB2A30-436D-4FE7-BD5D-4583405D27F2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065361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0C1B7-BFB6-4332-8A23-51E326F6AB73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87505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569060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27B30-7BAB-490F-93A4-B1B05D7E266E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226118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0416F-D7DB-44F8-9216-512C69EC7EE9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928214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4966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00E946-BCAF-4D68-ADE7-B8C07AC630B0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784684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95C2C-B1DC-4981-B1FC-B3C1972BA961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354154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0A19F8-4691-4F20-93BF-107A0709A17B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1339553058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DE67-160D-4E30-937F-FE5EB3FEFBA4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3640183430"/>
      </p:ext>
    </p:extLst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1D9BE-C00D-49E6-A4E9-7FF51EF093D1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974509294"/>
      </p:ext>
    </p:extLst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64C64A-7437-4773-9658-E1FBB2A40BBD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785877609"/>
      </p:ext>
    </p:extLst>
  </p:cSld>
  <p:clrMapOvr>
    <a:masterClrMapping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73F17-E6E3-4AAF-AC1D-361A750BE5DC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4240842164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919A1-31FF-4B02-91EA-78731E954715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6400"/>
              </a:buClr>
              <a:defRPr sz="1800"/>
            </a:lvl3pPr>
            <a:lvl4pPr>
              <a:buClr>
                <a:srgbClr val="006400"/>
              </a:buClr>
              <a:defRPr sz="1800"/>
            </a:lvl4pPr>
            <a:lvl5pPr>
              <a:buClr>
                <a:srgbClr val="006400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3782778189"/>
      </p:ext>
    </p:extLst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E877CB-A3E7-4FF7-BDB7-BD4511F97DE6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3306752833"/>
      </p:ext>
    </p:extLst>
  </p:cSld>
  <p:clrMapOvr>
    <a:masterClrMapping/>
  </p:clrMapOvr>
  <p:transition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95F00-7B8D-4487-8BEC-1106FCC20504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3115991555"/>
      </p:ext>
    </p:extLst>
  </p:cSld>
  <p:clrMapOvr>
    <a:masterClrMapping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C3789-276B-4AA8-B726-2D6546568C3C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2859685012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3"/>
            <a:ext cx="12193489" cy="6857999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433404"/>
      </p:ext>
    </p:extLst>
  </p:cSld>
  <p:clrMapOvr>
    <a:masterClrMapping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Blu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green and black logo&#10;&#10;Description automatically generated">
            <a:extLst>
              <a:ext uri="{FF2B5EF4-FFF2-40B4-BE49-F238E27FC236}">
                <a16:creationId xmlns:a16="http://schemas.microsoft.com/office/drawing/2014/main" id="{98DBF964-2C27-A4D1-7AEE-2AE56263D6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270" y="327819"/>
            <a:ext cx="11536293" cy="2212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105972"/>
      </p:ext>
    </p:extLst>
  </p:cSld>
  <p:clrMapOvr>
    <a:masterClrMapping/>
  </p:clrMapOvr>
  <p:transition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Blu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29DDF72-DF0B-FA74-2E07-D490692B3F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8188" y="327819"/>
            <a:ext cx="3964683" cy="109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926829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0F4440-CEDC-0D92-E0D5-5C1E3B59B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CA021F-8558-9528-DA3D-486CCDBEB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6232" y="1394619"/>
            <a:ext cx="11541025" cy="486648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D1A8F0-AC4B-E4A0-94D0-99C4BFD973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50">
                <a:solidFill>
                  <a:srgbClr val="232333"/>
                </a:solidFill>
              </a:defRPr>
            </a:lvl1pPr>
          </a:lstStyle>
          <a:p>
            <a:fld id="{EA445BD8-D8AF-4E93-BA66-C54D350368AD}" type="datetime1">
              <a:rPr lang="en-GB" smtClean="0"/>
              <a:t>16/10/2025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0FC7A-298A-77A0-6596-56B0B3FD8C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>
              <a:defRPr sz="850">
                <a:solidFill>
                  <a:srgbClr val="232333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17C40-7EB7-0CFD-6F6C-54AE57DE1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>
              <a:defRPr sz="850" b="1">
                <a:solidFill>
                  <a:srgbClr val="232333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6CDD9-97E9-735B-8549-0F3AE3CCAC5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rgbClr val="232333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145082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715" r:id="rId2"/>
    <p:sldLayoutId id="2147483716" r:id="rId3"/>
    <p:sldLayoutId id="2147483717" r:id="rId4"/>
    <p:sldLayoutId id="2147483718" r:id="rId5"/>
    <p:sldLayoutId id="2147483658" r:id="rId6"/>
    <p:sldLayoutId id="2147483681" r:id="rId7"/>
    <p:sldLayoutId id="2147483682" r:id="rId8"/>
    <p:sldLayoutId id="2147483675" r:id="rId9"/>
    <p:sldLayoutId id="2147483650" r:id="rId10"/>
    <p:sldLayoutId id="2147483683" r:id="rId11"/>
    <p:sldLayoutId id="2147483684" r:id="rId12"/>
    <p:sldLayoutId id="2147483652" r:id="rId13"/>
    <p:sldLayoutId id="2147483685" r:id="rId14"/>
    <p:sldLayoutId id="2147483686" r:id="rId15"/>
    <p:sldLayoutId id="2147483659" r:id="rId16"/>
    <p:sldLayoutId id="2147483687" r:id="rId17"/>
    <p:sldLayoutId id="2147483688" r:id="rId18"/>
    <p:sldLayoutId id="2147483660" r:id="rId19"/>
    <p:sldLayoutId id="2147483689" r:id="rId20"/>
    <p:sldLayoutId id="2147483690" r:id="rId21"/>
    <p:sldLayoutId id="2147483677" r:id="rId22"/>
    <p:sldLayoutId id="2147483691" r:id="rId23"/>
    <p:sldLayoutId id="2147483692" r:id="rId24"/>
    <p:sldLayoutId id="2147483676" r:id="rId25"/>
    <p:sldLayoutId id="2147483721" r:id="rId26"/>
    <p:sldLayoutId id="2147483666" r:id="rId27"/>
    <p:sldLayoutId id="2147483719" r:id="rId28"/>
    <p:sldLayoutId id="2147483720" r:id="rId29"/>
    <p:sldLayoutId id="2147483722" r:id="rId30"/>
    <p:sldLayoutId id="2147483723" r:id="rId31"/>
    <p:sldLayoutId id="2147483724" r:id="rId32"/>
    <p:sldLayoutId id="2147483661" r:id="rId33"/>
    <p:sldLayoutId id="2147483695" r:id="rId34"/>
    <p:sldLayoutId id="2147483696" r:id="rId35"/>
    <p:sldLayoutId id="2147483669" r:id="rId36"/>
    <p:sldLayoutId id="2147483697" r:id="rId37"/>
    <p:sldLayoutId id="2147483698" r:id="rId38"/>
    <p:sldLayoutId id="2147483678" r:id="rId39"/>
    <p:sldLayoutId id="2147483699" r:id="rId40"/>
    <p:sldLayoutId id="2147483700" r:id="rId41"/>
    <p:sldLayoutId id="2147483662" r:id="rId42"/>
    <p:sldLayoutId id="2147483701" r:id="rId43"/>
    <p:sldLayoutId id="2147483702" r:id="rId44"/>
    <p:sldLayoutId id="2147483663" r:id="rId45"/>
    <p:sldLayoutId id="2147483703" r:id="rId46"/>
    <p:sldLayoutId id="2147483704" r:id="rId47"/>
    <p:sldLayoutId id="2147483664" r:id="rId48"/>
    <p:sldLayoutId id="2147483705" r:id="rId49"/>
    <p:sldLayoutId id="2147483706" r:id="rId50"/>
    <p:sldLayoutId id="2147483665" r:id="rId51"/>
    <p:sldLayoutId id="2147483670" r:id="rId52"/>
    <p:sldLayoutId id="2147483673" r:id="rId53"/>
  </p:sldLayoutIdLst>
  <p:transition>
    <p:fade/>
  </p:transition>
  <p:hf hdr="0"/>
  <p:txStyles>
    <p:titleStyle>
      <a:lvl1pPr algn="l" defTabSz="685765" rtl="0" eaLnBrk="1" latinLnBrk="0" hangingPunct="1">
        <a:lnSpc>
          <a:spcPct val="90000"/>
        </a:lnSpc>
        <a:spcBef>
          <a:spcPct val="0"/>
        </a:spcBef>
        <a:buNone/>
        <a:defRPr sz="2600" b="1" kern="1200">
          <a:solidFill>
            <a:srgbClr val="006400"/>
          </a:solidFill>
          <a:latin typeface="+mj-lt"/>
          <a:ea typeface="+mj-ea"/>
          <a:cs typeface="+mj-cs"/>
        </a:defRPr>
      </a:lvl1pPr>
    </p:titleStyle>
    <p:bodyStyle>
      <a:lvl1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j-lt"/>
          <a:ea typeface="+mn-ea"/>
          <a:cs typeface="+mn-cs"/>
        </a:defRPr>
      </a:lvl2pPr>
      <a:lvl3pPr marL="161991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323984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485975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853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36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18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01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4288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76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4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3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1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29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17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06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206" userDrawn="1">
          <p15:clr>
            <a:srgbClr val="F26B43"/>
          </p15:clr>
        </p15:guide>
        <p15:guide id="4" pos="7475" userDrawn="1">
          <p15:clr>
            <a:srgbClr val="F26B43"/>
          </p15:clr>
        </p15:guide>
        <p15:guide id="5" orient="horz" pos="207" userDrawn="1">
          <p15:clr>
            <a:srgbClr val="F26B43"/>
          </p15:clr>
        </p15:guide>
        <p15:guide id="6" orient="horz" pos="4114" userDrawn="1">
          <p15:clr>
            <a:srgbClr val="F26B43"/>
          </p15:clr>
        </p15:guide>
        <p15:guide id="7" orient="horz" pos="3944" userDrawn="1">
          <p15:clr>
            <a:srgbClr val="F26B43"/>
          </p15:clr>
        </p15:guide>
        <p15:guide id="8" orient="horz" pos="879" userDrawn="1">
          <p15:clr>
            <a:srgbClr val="F26B43"/>
          </p15:clr>
        </p15:guide>
        <p15:guide id="9" pos="3723" userDrawn="1">
          <p15:clr>
            <a:srgbClr val="F26B43"/>
          </p15:clr>
        </p15:guide>
        <p15:guide id="10" pos="395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mperialCollegeLondon/RCDS-plotting-in-python-with-matplotlib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github.com/ImperialCollegeLondon/RCDS-object-oriented-python/blob/master/README.md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imperialcollegelondon.github.io/ReCoDE-home/exemplars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Relationship Id="rId6" Type="http://schemas.openxmlformats.org/officeDocument/2006/relationships/hyperlink" Target="https://imperialcollegelondon.github.io/ReCoDE-SPH-solver-2D-NS/" TargetMode="External"/><Relationship Id="rId5" Type="http://schemas.openxmlformats.org/officeDocument/2006/relationships/hyperlink" Target="https://imperialcollegelondon.github.io/ReCoDe-Euler-Maruyama/" TargetMode="External"/><Relationship Id="rId4" Type="http://schemas.openxmlformats.org/officeDocument/2006/relationships/hyperlink" Target="https://imperialcollegelondon.github.io/ReCoDE-home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feedback-rcd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mperial.ac.uk/students/academic-support/graduate-school/community-development/pres/" TargetMode="External"/><Relationship Id="rId1" Type="http://schemas.openxmlformats.org/officeDocument/2006/relationships/slideLayout" Target="../slideLayouts/slideLayout5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73C91-78F6-7FD7-669E-A1FEF5EAC30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Plotting in Python with Matplotlib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E4D7A8-3CEC-9DE0-CCD4-3A1A94F609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Chris Cooling</a:t>
            </a:r>
          </a:p>
          <a:p>
            <a:r>
              <a:rPr lang="en-GB" dirty="0"/>
              <a:t>Senior Teaching Fellow</a:t>
            </a:r>
          </a:p>
          <a:p>
            <a:r>
              <a:rPr lang="en-US" dirty="0"/>
              <a:t>ECRI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4143756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GB" sz="2800" dirty="0"/>
              <a:t>Important Information on Marking your Attendance on Inkpath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7" y="1773239"/>
            <a:ext cx="11541125" cy="3608230"/>
          </a:xfrm>
        </p:spPr>
        <p:txBody>
          <a:bodyPr/>
          <a:lstStyle/>
          <a:p>
            <a:r>
              <a:rPr lang="en-GB" sz="3200" dirty="0"/>
              <a:t>I will show you a QR code at the end of the session allowing you to mark your attendance on Inkpath. Please do not mark your attendance until then.</a:t>
            </a:r>
            <a:br>
              <a:rPr lang="en-GB" sz="3200" dirty="0"/>
            </a:br>
            <a:b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3200" dirty="0">
                <a:effectLst/>
                <a:ea typeface="Times New Roman" panose="02020603050405020304" pitchFamily="18" charset="0"/>
                <a:cs typeface="Calibri" panose="020F0502020204030204" pitchFamily="34" charset="0"/>
              </a:rPr>
              <a:t>If you are a Postgraduate Research student, this is required for receiving your ECRI professional development credit for this course.</a:t>
            </a:r>
            <a:endParaRPr lang="en-GB" sz="32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81B29A81-DA66-4397-B1B5-F97764FA7D32}" type="datetime1">
              <a:rPr lang="en-GB" smtClean="0"/>
              <a:t>16/10/2025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91869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US" dirty="0"/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8" y="1394619"/>
            <a:ext cx="11541125" cy="4866481"/>
          </a:xfrm>
        </p:spPr>
        <p:txBody>
          <a:bodyPr/>
          <a:lstStyle/>
          <a:p>
            <a:pPr marL="571500" lvl="0" indent="-5715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Understand</a:t>
            </a:r>
            <a:r>
              <a:rPr lang="en-GB" sz="3600" dirty="0">
                <a:latin typeface="Arial" panose="020B0604020202020204" pitchFamily="34" charset="0"/>
                <a:cs typeface="Arial" panose="020B0604020202020204" pitchFamily="34" charset="0"/>
              </a:rPr>
              <a:t> how to use example codes to create high-quality figures for your publications and thesis</a:t>
            </a:r>
          </a:p>
          <a:p>
            <a:pPr marL="571500" lvl="0" indent="-5715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Create</a:t>
            </a:r>
            <a:r>
              <a:rPr lang="en-GB" sz="3600" dirty="0">
                <a:latin typeface="Arial" panose="020B0604020202020204" pitchFamily="34" charset="0"/>
                <a:cs typeface="Arial" panose="020B0604020202020204" pitchFamily="34" charset="0"/>
              </a:rPr>
              <a:t> and export a variety of plots using matplotlib</a:t>
            </a:r>
          </a:p>
          <a:p>
            <a:pPr marL="571500" lvl="0" indent="-5715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Represent</a:t>
            </a:r>
            <a:r>
              <a:rPr lang="en-GB" sz="3600" dirty="0">
                <a:latin typeface="Arial" panose="020B0604020202020204" pitchFamily="34" charset="0"/>
                <a:cs typeface="Arial" panose="020B0604020202020204" pitchFamily="34" charset="0"/>
              </a:rPr>
              <a:t> multiple data series efficiently on a single plot</a:t>
            </a:r>
          </a:p>
          <a:p>
            <a:pPr marL="571500" lvl="0" indent="-5715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Customise</a:t>
            </a:r>
            <a:r>
              <a:rPr lang="en-GB" sz="3600" dirty="0">
                <a:latin typeface="Arial" panose="020B0604020202020204" pitchFamily="34" charset="0"/>
                <a:cs typeface="Arial" panose="020B0604020202020204" pitchFamily="34" charset="0"/>
              </a:rPr>
              <a:t> the appearance of plots and generate subplots in </a:t>
            </a:r>
            <a:r>
              <a:rPr lang="en-GB" sz="3600">
                <a:latin typeface="Arial" panose="020B0604020202020204" pitchFamily="34" charset="0"/>
                <a:cs typeface="Arial" panose="020B0604020202020204" pitchFamily="34" charset="0"/>
              </a:rPr>
              <a:t>one figure</a:t>
            </a:r>
            <a:endParaRPr lang="en-GB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32E73D5C-B207-45D9-810C-3B257089DCE4}" type="datetime1">
              <a:rPr lang="en-GB" smtClean="0"/>
              <a:t>16/10/2025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07505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US" dirty="0"/>
              <a:t>Course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8" y="1394619"/>
            <a:ext cx="11541125" cy="4866481"/>
          </a:xfrm>
        </p:spPr>
        <p:txBody>
          <a:bodyPr/>
          <a:lstStyle/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The course materials are stored in a 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GitHub repository</a:t>
            </a:r>
            <a:endParaRPr lang="en-US" sz="36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Instructions for using the materials are found in the 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readme</a:t>
            </a:r>
            <a:endParaRPr lang="en-US" sz="36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Links to open the course notebooks in </a:t>
            </a:r>
            <a:r>
              <a:rPr lang="en-US" sz="3600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Colab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are at the bottom of the readme</a:t>
            </a: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The materials can also be downloaded and run locally</a:t>
            </a: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You can also star/fork the repository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6E0350A5-0E1C-4E70-B0B6-3373B5C9F5CF}" type="datetime1">
              <a:rPr lang="en-GB" smtClean="0"/>
              <a:t>16/10/2025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61499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GB" sz="2800" dirty="0" err="1"/>
              <a:t>ReCoDE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4B4BC937-2805-4BE1-9C10-C67D8B6C9243}" type="datetime1">
              <a:rPr lang="en-GB" smtClean="0"/>
              <a:t>16/10/2025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5313110" cy="137319"/>
          </a:xfrm>
        </p:spPr>
        <p:txBody>
          <a:bodyPr/>
          <a:lstStyle/>
          <a:p>
            <a:r>
              <a:rPr lang="en-GB" dirty="0"/>
              <a:t>Introduction to Fortran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49521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5</a:t>
            </a:fld>
            <a:endParaRPr lang="en-GB"/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AE72B19A-BAEF-7DAE-DDC1-54394DA866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1409363" cy="4525963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The RCDS team has curated a collection of annotated </a:t>
            </a:r>
            <a:r>
              <a:rPr lang="en-GB" dirty="0">
                <a:hlinkClick r:id="rId3"/>
              </a:rPr>
              <a:t>exemplar projects</a:t>
            </a:r>
            <a:r>
              <a:rPr lang="en-GB" dirty="0"/>
              <a:t> known as </a:t>
            </a:r>
            <a:r>
              <a:rPr lang="en-GB" dirty="0" err="1">
                <a:hlinkClick r:id="rId4"/>
              </a:rPr>
              <a:t>ReCoDE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These demonstrate core research computing and data science principles applied to real problems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Accompanied by detailed descriptions of how they work, and the design decisions taken.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GB" dirty="0"/>
              <a:t>Exemplars using Matplotlib:</a:t>
            </a:r>
          </a:p>
          <a:p>
            <a:pPr marL="504891" lvl="2" indent="-342900"/>
            <a:r>
              <a:rPr lang="en-GB" dirty="0">
                <a:hlinkClick r:id="rId5"/>
              </a:rPr>
              <a:t>Euler-Maruyama</a:t>
            </a:r>
            <a:endParaRPr lang="en-GB" dirty="0"/>
          </a:p>
          <a:p>
            <a:pPr marL="666884" lvl="3" indent="-342900"/>
            <a:r>
              <a:rPr lang="en-GB" dirty="0"/>
              <a:t>Solves stochastic differential equations</a:t>
            </a:r>
          </a:p>
          <a:p>
            <a:pPr marL="666884" lvl="3" indent="-342900"/>
            <a:r>
              <a:rPr lang="en-GB" dirty="0"/>
              <a:t>Written in Python using </a:t>
            </a:r>
            <a:r>
              <a:rPr lang="en-GB" dirty="0" err="1"/>
              <a:t>Numpy</a:t>
            </a:r>
            <a:r>
              <a:rPr lang="en-GB" dirty="0"/>
              <a:t> and object-oriented design</a:t>
            </a:r>
          </a:p>
          <a:p>
            <a:pPr marL="666884" lvl="3" indent="-342900"/>
            <a:r>
              <a:rPr lang="en-GB" dirty="0"/>
              <a:t>Plots outputs </a:t>
            </a:r>
            <a:r>
              <a:rPr lang="en-GB"/>
              <a:t>using </a:t>
            </a:r>
            <a:r>
              <a:rPr lang="en-GB" dirty="0"/>
              <a:t>M</a:t>
            </a:r>
            <a:r>
              <a:rPr lang="en-GB"/>
              <a:t>atplotlib</a:t>
            </a:r>
            <a:endParaRPr lang="en-GB" dirty="0"/>
          </a:p>
          <a:p>
            <a:pPr marL="504891" lvl="2" indent="-342900"/>
            <a:r>
              <a:rPr lang="en-GB" dirty="0">
                <a:hlinkClick r:id="rId6"/>
              </a:rPr>
              <a:t>SPH Solver for 2D Navier-Stokes</a:t>
            </a:r>
            <a:endParaRPr lang="en-GB" dirty="0"/>
          </a:p>
          <a:p>
            <a:pPr marL="666884" lvl="3" indent="-342900"/>
            <a:r>
              <a:rPr lang="en-GB" dirty="0"/>
              <a:t>Solves Navier-Stokes fluid dynamics equations</a:t>
            </a:r>
          </a:p>
          <a:p>
            <a:pPr marL="666884" lvl="3" indent="-342900"/>
            <a:r>
              <a:rPr lang="en-GB" dirty="0"/>
              <a:t>Written primarily in C++</a:t>
            </a:r>
          </a:p>
          <a:p>
            <a:pPr marL="666884" lvl="3" indent="-342900"/>
            <a:r>
              <a:rPr lang="en-GB" dirty="0"/>
              <a:t>Reads output files using Python and plots outputs with Matplotlib</a:t>
            </a:r>
          </a:p>
        </p:txBody>
      </p:sp>
    </p:spTree>
    <p:extLst>
      <p:ext uri="{BB962C8B-B14F-4D97-AF65-F5344CB8AC3E}">
        <p14:creationId xmlns:p14="http://schemas.microsoft.com/office/powerpoint/2010/main" val="4288594215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9A737-0B87-8D06-30BC-159A01E55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AE690-3DB5-C8AC-A9B4-2E152B27C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Please take 3 minutes to complete the evaluation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64DF49-9A4D-5154-542F-802801365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CD5EC-1C2F-4E5C-817B-92E54AD71364}" type="datetime1">
              <a:rPr lang="en-GB" smtClean="0"/>
              <a:t>16/10/2025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B811AD-8D42-0DE4-1E96-E0C6A5A11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1DDFA7-DE3D-8D77-CFD3-B19A6CF5B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6</a:t>
            </a:fld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7DBC8-6B4B-6860-9339-77D08AD9EA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7B57BE-29B8-B7BA-15CB-930F83F6EB26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5768248" y="1509025"/>
            <a:ext cx="5489924" cy="4142267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000" dirty="0"/>
              <a:t>Once you’ve completed this course, please provide feedback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600" dirty="0"/>
              <a:t>The link is </a:t>
            </a:r>
            <a:r>
              <a:rPr lang="en-GB" sz="2600" b="0" i="0" u="sng" dirty="0">
                <a:solidFill>
                  <a:srgbClr val="0563C1"/>
                </a:solidFill>
                <a:effectLst/>
                <a:hlinkClick r:id="rId3"/>
              </a:rPr>
              <a:t>https://tinyurl.com/feedback-rcds</a:t>
            </a:r>
            <a:endParaRPr lang="en-GB" sz="2600" b="0" i="0" u="sng" dirty="0">
              <a:solidFill>
                <a:srgbClr val="0563C1"/>
              </a:solidFill>
              <a:effectLst/>
            </a:endParaRP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600" dirty="0"/>
              <a:t>You should also have received an email with this link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600" dirty="0"/>
              <a:t>This helps us improve the class for future students</a:t>
            </a:r>
          </a:p>
          <a:p>
            <a:endParaRPr lang="en-US" dirty="0"/>
          </a:p>
        </p:txBody>
      </p:sp>
      <p:pic>
        <p:nvPicPr>
          <p:cNvPr id="10" name="Picture 9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50B9FAF5-2A53-D52B-CE70-2EBC7C63CD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915" y="837385"/>
            <a:ext cx="5348975" cy="5348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190070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615D4-9245-FCA1-6CB2-585C3C3F1965}"/>
              </a:ext>
            </a:extLst>
          </p:cNvPr>
          <p:cNvSpPr txBox="1">
            <a:spLocks/>
          </p:cNvSpPr>
          <p:nvPr/>
        </p:nvSpPr>
        <p:spPr>
          <a:xfrm>
            <a:off x="479685" y="2735705"/>
            <a:ext cx="11265108" cy="3753327"/>
          </a:xfrm>
          <a:prstGeom prst="rect">
            <a:avLst/>
          </a:prstGeom>
        </p:spPr>
        <p:txBody>
          <a:bodyPr/>
          <a:lstStyle>
            <a:lvl1pPr algn="l" defTabSz="68576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b="1" kern="1200">
                <a:solidFill>
                  <a:srgbClr val="0064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00FF7F"/>
                </a:solidFill>
              </a:rPr>
              <a:t>Postgraduate Research Experience Survey (PRES) 2025</a:t>
            </a:r>
          </a:p>
          <a:p>
            <a:endParaRPr lang="en-US" dirty="0">
              <a:solidFill>
                <a:srgbClr val="00FF7F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FF7F"/>
                </a:solidFill>
              </a:rPr>
              <a:t>Opens 24 April 2025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FF7F"/>
                </a:solidFill>
              </a:rPr>
              <a:t>Closes 15 May 2025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rgbClr val="00FF7F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rgbClr val="00FF7F"/>
              </a:solidFill>
            </a:endParaRPr>
          </a:p>
          <a:p>
            <a:r>
              <a:rPr lang="en-US" dirty="0">
                <a:solidFill>
                  <a:srgbClr val="00FF7F"/>
                </a:solidFill>
              </a:rPr>
              <a:t>Find out what action we have taken to address your feedback in previous surveys: </a:t>
            </a:r>
            <a:r>
              <a:rPr lang="en-GB" dirty="0">
                <a:solidFill>
                  <a:srgbClr val="EE82EE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Postgraduate Research Experience Survey (PRES) | Current students | Imperial College London</a:t>
            </a:r>
            <a:endParaRPr lang="en-US" dirty="0">
              <a:solidFill>
                <a:srgbClr val="EE82EE"/>
              </a:solidFill>
            </a:endParaRPr>
          </a:p>
          <a:p>
            <a:endParaRPr lang="en-US" dirty="0">
              <a:solidFill>
                <a:srgbClr val="00FF7F"/>
              </a:solidFill>
            </a:endParaRPr>
          </a:p>
          <a:p>
            <a:endParaRPr lang="en-US" dirty="0">
              <a:solidFill>
                <a:srgbClr val="00FF7F"/>
              </a:solidFill>
            </a:endParaRPr>
          </a:p>
          <a:p>
            <a:r>
              <a:rPr lang="en-US" dirty="0">
                <a:solidFill>
                  <a:srgbClr val="00FF7F"/>
                </a:solidFill>
              </a:rPr>
              <a:t>Look out for your unique link to complete the survey – sent to your Imperial email address </a:t>
            </a:r>
            <a:r>
              <a:rPr lang="en-GB" sz="1800" dirty="0">
                <a:latin typeface="Imperial Sans Display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endParaRPr lang="en-US" dirty="0">
              <a:solidFill>
                <a:srgbClr val="00FF7F"/>
              </a:solidFill>
            </a:endParaRPr>
          </a:p>
          <a:p>
            <a:endParaRPr lang="en-US" dirty="0">
              <a:solidFill>
                <a:srgbClr val="00FF7F"/>
              </a:solidFill>
            </a:endParaRPr>
          </a:p>
          <a:p>
            <a:endParaRPr lang="en-US" dirty="0">
              <a:solidFill>
                <a:srgbClr val="00FF7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1427888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C92A0-DAFD-2CE4-F5BD-315A0135CD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500" y="3338513"/>
            <a:ext cx="9144000" cy="1828800"/>
          </a:xfrm>
        </p:spPr>
        <p:txBody>
          <a:bodyPr/>
          <a:lstStyle/>
          <a:p>
            <a:r>
              <a:rPr lang="en-US" dirty="0">
                <a:solidFill>
                  <a:srgbClr val="98FB98"/>
                </a:solidFill>
              </a:rPr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972F5-B010-8428-D0AA-F619C83E71D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30200" y="5878513"/>
            <a:ext cx="5606257" cy="652463"/>
          </a:xfrm>
        </p:spPr>
        <p:txBody>
          <a:bodyPr/>
          <a:lstStyle/>
          <a:p>
            <a:r>
              <a:rPr lang="en-US" dirty="0"/>
              <a:t>Presentation Title</a:t>
            </a:r>
          </a:p>
          <a:p>
            <a:r>
              <a:rPr lang="en-US" dirty="0"/>
              <a:t>DD/MM/YYYY</a:t>
            </a:r>
          </a:p>
        </p:txBody>
      </p:sp>
    </p:spTree>
    <p:extLst>
      <p:ext uri="{BB962C8B-B14F-4D97-AF65-F5344CB8AC3E}">
        <p14:creationId xmlns:p14="http://schemas.microsoft.com/office/powerpoint/2010/main" val="2287451629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ICL PPT Theme">
  <a:themeElements>
    <a:clrScheme name="Imperial colour theme">
      <a:dk1>
        <a:sysClr val="windowText" lastClr="000000"/>
      </a:dk1>
      <a:lt1>
        <a:sysClr val="window" lastClr="FFFFFF"/>
      </a:lt1>
      <a:dk2>
        <a:srgbClr val="000080"/>
      </a:dk2>
      <a:lt2>
        <a:srgbClr val="F5F5F5"/>
      </a:lt2>
      <a:accent1>
        <a:srgbClr val="0000CD"/>
      </a:accent1>
      <a:accent2>
        <a:srgbClr val="C71585"/>
      </a:accent2>
      <a:accent3>
        <a:srgbClr val="7B68EE"/>
      </a:accent3>
      <a:accent4>
        <a:srgbClr val="FF0000"/>
      </a:accent4>
      <a:accent5>
        <a:srgbClr val="FF4500"/>
      </a:accent5>
      <a:accent6>
        <a:srgbClr val="006400"/>
      </a:accent6>
      <a:hlink>
        <a:srgbClr val="000080"/>
      </a:hlink>
      <a:folHlink>
        <a:srgbClr val="C71585"/>
      </a:folHlink>
    </a:clrScheme>
    <a:fontScheme name="Imperial College Standard Font Them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05000"/>
          </a:lnSpc>
          <a:defRPr sz="1600" dirty="0">
            <a:solidFill>
              <a:schemeClr val="tx1"/>
            </a:solidFill>
          </a:defRPr>
        </a:defPPr>
      </a:lstStyle>
    </a:txDef>
  </a:objectDefaults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Arial_ICL_PowerPoint 16_9 template.potx" id="{0A6366DA-4143-4819-954D-649CAC6891CC}" vid="{00E466E9-FA83-448D-94BE-48FEA435C0D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ICL PPT Theme</Template>
  <TotalTime>3461</TotalTime>
  <Words>432</Words>
  <Application>Microsoft Office PowerPoint</Application>
  <PresentationFormat>Widescreen</PresentationFormat>
  <Paragraphs>78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Calibri</vt:lpstr>
      <vt:lpstr>Arial</vt:lpstr>
      <vt:lpstr>Imperial Sans Display</vt:lpstr>
      <vt:lpstr>Times New Roman</vt:lpstr>
      <vt:lpstr>ICL PPT Theme</vt:lpstr>
      <vt:lpstr>Plotting in Python with Matplotlib</vt:lpstr>
      <vt:lpstr>Important Information on Marking your Attendance on Inkpath</vt:lpstr>
      <vt:lpstr>Learning Outcomes</vt:lpstr>
      <vt:lpstr>Course Materials</vt:lpstr>
      <vt:lpstr>ReCoDE</vt:lpstr>
      <vt:lpstr>Please take 3 minutes to complete the evaluation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 goes here xxxxx</dc:title>
  <dc:creator>Carly Murphy-Merrydew</dc:creator>
  <cp:lastModifiedBy>Cooling, Chris</cp:lastModifiedBy>
  <cp:revision>17</cp:revision>
  <dcterms:created xsi:type="dcterms:W3CDTF">2024-09-12T08:44:53Z</dcterms:created>
  <dcterms:modified xsi:type="dcterms:W3CDTF">2025-10-16T13:20:22Z</dcterms:modified>
</cp:coreProperties>
</file>